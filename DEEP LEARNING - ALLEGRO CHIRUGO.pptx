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Sunborn" charset="1" panose="00000500000000000000"/>
      <p:regular r:id="rId16"/>
    </p:embeddedFont>
    <p:embeddedFont>
      <p:font typeface="KG Primary Penmanship" charset="1" panose="02000506000000020003"/>
      <p:regular r:id="rId17"/>
    </p:embeddedFont>
    <p:embeddedFont>
      <p:font typeface="Quicksand" charset="1" panose="00000000000000000000"/>
      <p:regular r:id="rId18"/>
    </p:embeddedFont>
    <p:embeddedFont>
      <p:font typeface="Quicksand Bold" charset="1" panose="00000000000000000000"/>
      <p:regular r:id="rId19"/>
    </p:embeddedFont>
    <p:embeddedFont>
      <p:font typeface="Canva Sans Bold" charset="1" panose="020B0803030501040103"/>
      <p:regular r:id="rId20"/>
    </p:embeddedFont>
    <p:embeddedFont>
      <p:font typeface="Canva Sans" charset="1" panose="020B05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17.png" Type="http://schemas.openxmlformats.org/officeDocument/2006/relationships/image"/><Relationship Id="rId14" Target="../media/image18.svg" Type="http://schemas.openxmlformats.org/officeDocument/2006/relationships/image"/><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3.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9.png" Type="http://schemas.openxmlformats.org/officeDocument/2006/relationships/image"/><Relationship Id="rId6" Target="../media/image6.png" Type="http://schemas.openxmlformats.org/officeDocument/2006/relationships/image"/><Relationship Id="rId7" Target="../media/image33.pn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230099">
            <a:off x="7945045" y="1030064"/>
            <a:ext cx="9544050" cy="8226872"/>
            <a:chOff x="0" y="0"/>
            <a:chExt cx="2513659" cy="2166748"/>
          </a:xfrm>
        </p:grpSpPr>
        <p:sp>
          <p:nvSpPr>
            <p:cNvPr name="Freeform 4" id="4"/>
            <p:cNvSpPr/>
            <p:nvPr/>
          </p:nvSpPr>
          <p:spPr>
            <a:xfrm flipH="false" flipV="false" rot="0">
              <a:off x="0" y="0"/>
              <a:ext cx="2513659" cy="2166748"/>
            </a:xfrm>
            <a:custGeom>
              <a:avLst/>
              <a:gdLst/>
              <a:ahLst/>
              <a:cxnLst/>
              <a:rect r="r" b="b" t="t" l="l"/>
              <a:pathLst>
                <a:path h="2166748" w="2513659">
                  <a:moveTo>
                    <a:pt x="0" y="0"/>
                  </a:moveTo>
                  <a:lnTo>
                    <a:pt x="2513659" y="0"/>
                  </a:lnTo>
                  <a:lnTo>
                    <a:pt x="2513659" y="2166748"/>
                  </a:lnTo>
                  <a:lnTo>
                    <a:pt x="0" y="2166748"/>
                  </a:lnTo>
                  <a:close/>
                </a:path>
              </a:pathLst>
            </a:custGeom>
            <a:solidFill>
              <a:srgbClr val="495B80"/>
            </a:solidFill>
            <a:ln w="38100" cap="sq">
              <a:solidFill>
                <a:srgbClr val="000000"/>
              </a:solidFill>
              <a:prstDash val="solid"/>
              <a:miter/>
            </a:ln>
          </p:spPr>
        </p:sp>
        <p:sp>
          <p:nvSpPr>
            <p:cNvPr name="TextBox 5" id="5"/>
            <p:cNvSpPr txBox="true"/>
            <p:nvPr/>
          </p:nvSpPr>
          <p:spPr>
            <a:xfrm>
              <a:off x="0" y="-38100"/>
              <a:ext cx="2513659" cy="220484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342199">
            <a:off x="9166435" y="7429541"/>
            <a:ext cx="6321501" cy="1403098"/>
            <a:chOff x="0" y="0"/>
            <a:chExt cx="1879724" cy="417217"/>
          </a:xfrm>
        </p:grpSpPr>
        <p:sp>
          <p:nvSpPr>
            <p:cNvPr name="Freeform 7" id="7"/>
            <p:cNvSpPr/>
            <p:nvPr/>
          </p:nvSpPr>
          <p:spPr>
            <a:xfrm flipH="false" flipV="false" rot="0">
              <a:off x="0" y="0"/>
              <a:ext cx="1879724" cy="417217"/>
            </a:xfrm>
            <a:custGeom>
              <a:avLst/>
              <a:gdLst/>
              <a:ahLst/>
              <a:cxnLst/>
              <a:rect r="r" b="b" t="t" l="l"/>
              <a:pathLst>
                <a:path h="417217" w="1879724">
                  <a:moveTo>
                    <a:pt x="62460" y="0"/>
                  </a:moveTo>
                  <a:lnTo>
                    <a:pt x="1817265" y="0"/>
                  </a:lnTo>
                  <a:cubicBezTo>
                    <a:pt x="1851760" y="0"/>
                    <a:pt x="1879724" y="27964"/>
                    <a:pt x="1879724" y="62460"/>
                  </a:cubicBezTo>
                  <a:lnTo>
                    <a:pt x="1879724" y="354757"/>
                  </a:lnTo>
                  <a:cubicBezTo>
                    <a:pt x="1879724" y="389253"/>
                    <a:pt x="1851760" y="417217"/>
                    <a:pt x="1817265" y="417217"/>
                  </a:cubicBezTo>
                  <a:lnTo>
                    <a:pt x="62460" y="417217"/>
                  </a:lnTo>
                  <a:cubicBezTo>
                    <a:pt x="27964" y="417217"/>
                    <a:pt x="0" y="389253"/>
                    <a:pt x="0" y="354757"/>
                  </a:cubicBezTo>
                  <a:lnTo>
                    <a:pt x="0" y="62460"/>
                  </a:lnTo>
                  <a:cubicBezTo>
                    <a:pt x="0" y="27964"/>
                    <a:pt x="27964" y="0"/>
                    <a:pt x="62460" y="0"/>
                  </a:cubicBezTo>
                  <a:close/>
                </a:path>
              </a:pathLst>
            </a:custGeom>
            <a:solidFill>
              <a:srgbClr val="FD7B8B"/>
            </a:solidFill>
            <a:ln w="38100" cap="rnd">
              <a:solidFill>
                <a:srgbClr val="000000"/>
              </a:solidFill>
              <a:prstDash val="solid"/>
              <a:round/>
            </a:ln>
          </p:spPr>
        </p:sp>
        <p:sp>
          <p:nvSpPr>
            <p:cNvPr name="TextBox 8" id="8"/>
            <p:cNvSpPr txBox="true"/>
            <p:nvPr/>
          </p:nvSpPr>
          <p:spPr>
            <a:xfrm>
              <a:off x="0" y="-38100"/>
              <a:ext cx="1879724" cy="45531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false" rot="-946505">
            <a:off x="-1026399" y="3402869"/>
            <a:ext cx="8139700" cy="5504472"/>
          </a:xfrm>
          <a:custGeom>
            <a:avLst/>
            <a:gdLst/>
            <a:ahLst/>
            <a:cxnLst/>
            <a:rect r="r" b="b" t="t" l="l"/>
            <a:pathLst>
              <a:path h="5504472" w="8139700">
                <a:moveTo>
                  <a:pt x="8139700" y="0"/>
                </a:moveTo>
                <a:lnTo>
                  <a:pt x="0" y="0"/>
                </a:lnTo>
                <a:lnTo>
                  <a:pt x="0" y="5504472"/>
                </a:lnTo>
                <a:lnTo>
                  <a:pt x="8139700" y="5504472"/>
                </a:lnTo>
                <a:lnTo>
                  <a:pt x="8139700" y="0"/>
                </a:lnTo>
                <a:close/>
              </a:path>
            </a:pathLst>
          </a:custGeom>
          <a:blipFill>
            <a:blip r:embed="rId3"/>
            <a:stretch>
              <a:fillRect l="0" t="0" r="0" b="0"/>
            </a:stretch>
          </a:blipFill>
        </p:spPr>
      </p:sp>
      <p:sp>
        <p:nvSpPr>
          <p:cNvPr name="Freeform 10" id="10"/>
          <p:cNvSpPr/>
          <p:nvPr/>
        </p:nvSpPr>
        <p:spPr>
          <a:xfrm flipH="false" flipV="false" rot="1191745">
            <a:off x="14356273" y="293958"/>
            <a:ext cx="3457815" cy="2057400"/>
          </a:xfrm>
          <a:custGeom>
            <a:avLst/>
            <a:gdLst/>
            <a:ahLst/>
            <a:cxnLst/>
            <a:rect r="r" b="b" t="t" l="l"/>
            <a:pathLst>
              <a:path h="2057400" w="3457815">
                <a:moveTo>
                  <a:pt x="0" y="0"/>
                </a:moveTo>
                <a:lnTo>
                  <a:pt x="3457815" y="0"/>
                </a:lnTo>
                <a:lnTo>
                  <a:pt x="3457815"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316361">
            <a:off x="4442839" y="-331044"/>
            <a:ext cx="3781387" cy="3771933"/>
          </a:xfrm>
          <a:custGeom>
            <a:avLst/>
            <a:gdLst/>
            <a:ahLst/>
            <a:cxnLst/>
            <a:rect r="r" b="b" t="t" l="l"/>
            <a:pathLst>
              <a:path h="3771933" w="3781387">
                <a:moveTo>
                  <a:pt x="0" y="0"/>
                </a:moveTo>
                <a:lnTo>
                  <a:pt x="3781387" y="0"/>
                </a:lnTo>
                <a:lnTo>
                  <a:pt x="3781387" y="3771933"/>
                </a:lnTo>
                <a:lnTo>
                  <a:pt x="0" y="3771933"/>
                </a:lnTo>
                <a:lnTo>
                  <a:pt x="0" y="0"/>
                </a:lnTo>
                <a:close/>
              </a:path>
            </a:pathLst>
          </a:custGeom>
          <a:blipFill>
            <a:blip r:embed="rId6"/>
            <a:stretch>
              <a:fillRect l="0" t="0" r="0" b="0"/>
            </a:stretch>
          </a:blipFill>
        </p:spPr>
      </p:sp>
      <p:sp>
        <p:nvSpPr>
          <p:cNvPr name="Freeform 12" id="12"/>
          <p:cNvSpPr/>
          <p:nvPr/>
        </p:nvSpPr>
        <p:spPr>
          <a:xfrm flipH="false" flipV="false" rot="0">
            <a:off x="-124368" y="-610588"/>
            <a:ext cx="3167819" cy="6021359"/>
          </a:xfrm>
          <a:custGeom>
            <a:avLst/>
            <a:gdLst/>
            <a:ahLst/>
            <a:cxnLst/>
            <a:rect r="r" b="b" t="t" l="l"/>
            <a:pathLst>
              <a:path h="6021359" w="3167819">
                <a:moveTo>
                  <a:pt x="0" y="0"/>
                </a:moveTo>
                <a:lnTo>
                  <a:pt x="3167819" y="0"/>
                </a:lnTo>
                <a:lnTo>
                  <a:pt x="3167819" y="6021359"/>
                </a:lnTo>
                <a:lnTo>
                  <a:pt x="0" y="6021359"/>
                </a:lnTo>
                <a:lnTo>
                  <a:pt x="0" y="0"/>
                </a:lnTo>
                <a:close/>
              </a:path>
            </a:pathLst>
          </a:custGeom>
          <a:blipFill>
            <a:blip r:embed="rId7"/>
            <a:stretch>
              <a:fillRect l="-299116" t="0" r="0" b="0"/>
            </a:stretch>
          </a:blipFill>
        </p:spPr>
      </p:sp>
      <p:sp>
        <p:nvSpPr>
          <p:cNvPr name="TextBox 13" id="13"/>
          <p:cNvSpPr txBox="true"/>
          <p:nvPr/>
        </p:nvSpPr>
        <p:spPr>
          <a:xfrm rot="363222">
            <a:off x="8946799" y="2924670"/>
            <a:ext cx="7850040" cy="4466076"/>
          </a:xfrm>
          <a:prstGeom prst="rect">
            <a:avLst/>
          </a:prstGeom>
        </p:spPr>
        <p:txBody>
          <a:bodyPr anchor="t" rtlCol="false" tIns="0" lIns="0" bIns="0" rIns="0">
            <a:spAutoFit/>
          </a:bodyPr>
          <a:lstStyle/>
          <a:p>
            <a:pPr algn="ctr">
              <a:lnSpc>
                <a:spcPts val="7051"/>
              </a:lnSpc>
            </a:pPr>
            <a:r>
              <a:rPr lang="en-US" sz="6131">
                <a:solidFill>
                  <a:srgbClr val="FFFFFF"/>
                </a:solidFill>
                <a:latin typeface="Sunborn"/>
                <a:ea typeface="Sunborn"/>
                <a:cs typeface="Sunborn"/>
                <a:sym typeface="Sunborn"/>
              </a:rPr>
              <a:t>FROM CHEST X-RAYS TO MEDICAL REPORTS:</a:t>
            </a:r>
          </a:p>
          <a:p>
            <a:pPr algn="ctr">
              <a:lnSpc>
                <a:spcPts val="7051"/>
              </a:lnSpc>
            </a:pPr>
            <a:r>
              <a:rPr lang="en-US" sz="6131">
                <a:solidFill>
                  <a:srgbClr val="FFFFFF"/>
                </a:solidFill>
                <a:latin typeface="Sunborn"/>
                <a:ea typeface="Sunborn"/>
                <a:cs typeface="Sunborn"/>
                <a:sym typeface="Sunborn"/>
              </a:rPr>
              <a:t>A DEEP LEARNING APPROACH</a:t>
            </a:r>
          </a:p>
        </p:txBody>
      </p:sp>
      <p:sp>
        <p:nvSpPr>
          <p:cNvPr name="TextBox 14" id="14"/>
          <p:cNvSpPr txBox="true"/>
          <p:nvPr/>
        </p:nvSpPr>
        <p:spPr>
          <a:xfrm rot="335009">
            <a:off x="9589183" y="7352035"/>
            <a:ext cx="5492687" cy="1387474"/>
          </a:xfrm>
          <a:prstGeom prst="rect">
            <a:avLst/>
          </a:prstGeom>
        </p:spPr>
        <p:txBody>
          <a:bodyPr anchor="t" rtlCol="false" tIns="0" lIns="0" bIns="0" rIns="0">
            <a:spAutoFit/>
          </a:bodyPr>
          <a:lstStyle/>
          <a:p>
            <a:pPr algn="ctr" marL="0" indent="0" lvl="0">
              <a:lnSpc>
                <a:spcPts val="11200"/>
              </a:lnSpc>
              <a:spcBef>
                <a:spcPct val="0"/>
              </a:spcBef>
            </a:pPr>
            <a:r>
              <a:rPr lang="en-US" sz="8000">
                <a:solidFill>
                  <a:srgbClr val="FFFFFF"/>
                </a:solidFill>
                <a:latin typeface="KG Primary Penmanship"/>
                <a:ea typeface="KG Primary Penmanship"/>
                <a:cs typeface="KG Primary Penmanship"/>
                <a:sym typeface="KG Primary Penmanship"/>
              </a:rPr>
              <a:t>An Overview</a:t>
            </a:r>
          </a:p>
        </p:txBody>
      </p:sp>
      <p:grpSp>
        <p:nvGrpSpPr>
          <p:cNvPr name="Group 15" id="15"/>
          <p:cNvGrpSpPr/>
          <p:nvPr/>
        </p:nvGrpSpPr>
        <p:grpSpPr>
          <a:xfrm rot="0">
            <a:off x="300575" y="9420321"/>
            <a:ext cx="13809035" cy="620901"/>
            <a:chOff x="0" y="0"/>
            <a:chExt cx="4106173" cy="184627"/>
          </a:xfrm>
        </p:grpSpPr>
        <p:sp>
          <p:nvSpPr>
            <p:cNvPr name="Freeform 16" id="16"/>
            <p:cNvSpPr/>
            <p:nvPr/>
          </p:nvSpPr>
          <p:spPr>
            <a:xfrm flipH="false" flipV="false" rot="0">
              <a:off x="0" y="0"/>
              <a:ext cx="4106173" cy="184627"/>
            </a:xfrm>
            <a:custGeom>
              <a:avLst/>
              <a:gdLst/>
              <a:ahLst/>
              <a:cxnLst/>
              <a:rect r="r" b="b" t="t" l="l"/>
              <a:pathLst>
                <a:path h="184627" w="4106173">
                  <a:moveTo>
                    <a:pt x="28593" y="0"/>
                  </a:moveTo>
                  <a:lnTo>
                    <a:pt x="4077580" y="0"/>
                  </a:lnTo>
                  <a:cubicBezTo>
                    <a:pt x="4093371" y="0"/>
                    <a:pt x="4106173" y="12801"/>
                    <a:pt x="4106173" y="28593"/>
                  </a:cubicBezTo>
                  <a:lnTo>
                    <a:pt x="4106173" y="156035"/>
                  </a:lnTo>
                  <a:cubicBezTo>
                    <a:pt x="4106173" y="163618"/>
                    <a:pt x="4103160" y="170891"/>
                    <a:pt x="4097798" y="176253"/>
                  </a:cubicBezTo>
                  <a:cubicBezTo>
                    <a:pt x="4092436" y="181615"/>
                    <a:pt x="4085163" y="184627"/>
                    <a:pt x="4077580" y="184627"/>
                  </a:cubicBezTo>
                  <a:lnTo>
                    <a:pt x="28593" y="184627"/>
                  </a:lnTo>
                  <a:cubicBezTo>
                    <a:pt x="12801" y="184627"/>
                    <a:pt x="0" y="171826"/>
                    <a:pt x="0" y="156035"/>
                  </a:cubicBezTo>
                  <a:lnTo>
                    <a:pt x="0" y="28593"/>
                  </a:lnTo>
                  <a:cubicBezTo>
                    <a:pt x="0" y="12801"/>
                    <a:pt x="12801" y="0"/>
                    <a:pt x="28593" y="0"/>
                  </a:cubicBezTo>
                  <a:close/>
                </a:path>
              </a:pathLst>
            </a:custGeom>
            <a:solidFill>
              <a:srgbClr val="FD7B8B"/>
            </a:solidFill>
            <a:ln w="38100" cap="rnd">
              <a:solidFill>
                <a:srgbClr val="000000"/>
              </a:solidFill>
              <a:prstDash val="solid"/>
              <a:round/>
            </a:ln>
          </p:spPr>
        </p:sp>
        <p:sp>
          <p:nvSpPr>
            <p:cNvPr name="TextBox 17" id="17"/>
            <p:cNvSpPr txBox="true"/>
            <p:nvPr/>
          </p:nvSpPr>
          <p:spPr>
            <a:xfrm>
              <a:off x="0" y="-38100"/>
              <a:ext cx="4106173" cy="222727"/>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96317" y="9506870"/>
            <a:ext cx="14217551" cy="963930"/>
          </a:xfrm>
          <a:prstGeom prst="rect">
            <a:avLst/>
          </a:prstGeom>
        </p:spPr>
        <p:txBody>
          <a:bodyPr anchor="t" rtlCol="false" tIns="0" lIns="0" bIns="0" rIns="0">
            <a:spAutoFit/>
          </a:bodyPr>
          <a:lstStyle/>
          <a:p>
            <a:pPr algn="ctr">
              <a:lnSpc>
                <a:spcPts val="3794"/>
              </a:lnSpc>
            </a:pPr>
            <a:r>
              <a:rPr lang="en-US" sz="3300">
                <a:solidFill>
                  <a:srgbClr val="FFFFFF"/>
                </a:solidFill>
                <a:latin typeface="KG Primary Penmanship"/>
                <a:ea typeface="KG Primary Penmanship"/>
                <a:cs typeface="KG Primary Penmanship"/>
                <a:sym typeface="KG Primary Penmanship"/>
              </a:rPr>
              <a:t>FRANDINA ILARIA 264232 - SICILIANO SAMUELE 263633 - SPADAFORA PIERPAOLO 263722</a:t>
            </a:r>
          </a:p>
          <a:p>
            <a:pPr algn="ctr">
              <a:lnSpc>
                <a:spcPts val="3794"/>
              </a:lnSpc>
            </a:pPr>
          </a:p>
        </p:txBody>
      </p:sp>
      <p:sp>
        <p:nvSpPr>
          <p:cNvPr name="TextBox 19" id="19"/>
          <p:cNvSpPr txBox="true"/>
          <p:nvPr/>
        </p:nvSpPr>
        <p:spPr>
          <a:xfrm rot="257384">
            <a:off x="10500243" y="1536400"/>
            <a:ext cx="5143318" cy="1210094"/>
          </a:xfrm>
          <a:prstGeom prst="rect">
            <a:avLst/>
          </a:prstGeom>
        </p:spPr>
        <p:txBody>
          <a:bodyPr anchor="t" rtlCol="false" tIns="0" lIns="0" bIns="0" rIns="0">
            <a:spAutoFit/>
          </a:bodyPr>
          <a:lstStyle/>
          <a:p>
            <a:pPr algn="ctr">
              <a:lnSpc>
                <a:spcPts val="3186"/>
              </a:lnSpc>
            </a:pPr>
            <a:r>
              <a:rPr lang="en-US" sz="2771">
                <a:solidFill>
                  <a:srgbClr val="FFFFFF"/>
                </a:solidFill>
                <a:latin typeface="Sunborn"/>
                <a:ea typeface="Sunborn"/>
                <a:cs typeface="Sunborn"/>
                <a:sym typeface="Sunborn"/>
              </a:rPr>
              <a:t>UNIVERSITÀ DELLA CALABRIA</a:t>
            </a:r>
          </a:p>
          <a:p>
            <a:pPr algn="ctr">
              <a:lnSpc>
                <a:spcPts val="3186"/>
              </a:lnSpc>
            </a:pPr>
            <a:r>
              <a:rPr lang="en-US" sz="2771">
                <a:solidFill>
                  <a:srgbClr val="FFFFFF"/>
                </a:solidFill>
                <a:latin typeface="Sunborn"/>
                <a:ea typeface="Sunborn"/>
                <a:cs typeface="Sunborn"/>
                <a:sym typeface="Sunborn"/>
              </a:rPr>
              <a:t>AI &amp; CS - DEEP LEARNING</a:t>
            </a:r>
          </a:p>
          <a:p>
            <a:pPr algn="ctr">
              <a:lnSpc>
                <a:spcPts val="3186"/>
              </a:lnSpc>
            </a:pPr>
            <a:r>
              <a:rPr lang="en-US" sz="2771">
                <a:solidFill>
                  <a:srgbClr val="FFFFFF"/>
                </a:solidFill>
                <a:latin typeface="Sunborn"/>
                <a:ea typeface="Sunborn"/>
                <a:cs typeface="Sunborn"/>
                <a:sym typeface="Sunborn"/>
              </a:rPr>
              <a:t>A.A. 2024/2025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146577"/>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495B80"/>
            </a:solidFill>
            <a:ln w="38100" cap="sq">
              <a:solidFill>
                <a:srgbClr val="000000"/>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2092761" y="4002539"/>
            <a:ext cx="1259079" cy="125907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240"/>
                </a:lnSpc>
              </a:pPr>
            </a:p>
          </p:txBody>
        </p:sp>
      </p:grpSp>
      <p:grpSp>
        <p:nvGrpSpPr>
          <p:cNvPr name="Group 9" id="9"/>
          <p:cNvGrpSpPr/>
          <p:nvPr/>
        </p:nvGrpSpPr>
        <p:grpSpPr>
          <a:xfrm rot="0">
            <a:off x="2722300" y="4002781"/>
            <a:ext cx="5987001" cy="1259079"/>
            <a:chOff x="0" y="0"/>
            <a:chExt cx="8187732" cy="1721898"/>
          </a:xfrm>
        </p:grpSpPr>
        <p:sp>
          <p:nvSpPr>
            <p:cNvPr name="Freeform 10" id="10"/>
            <p:cNvSpPr/>
            <p:nvPr/>
          </p:nvSpPr>
          <p:spPr>
            <a:xfrm flipH="false" flipV="false" rot="0">
              <a:off x="0" y="0"/>
              <a:ext cx="8187733" cy="1721898"/>
            </a:xfrm>
            <a:custGeom>
              <a:avLst/>
              <a:gdLst/>
              <a:ahLst/>
              <a:cxnLst/>
              <a:rect r="r" b="b" t="t" l="l"/>
              <a:pathLst>
                <a:path h="1721898" w="8187733">
                  <a:moveTo>
                    <a:pt x="8063272" y="1721898"/>
                  </a:moveTo>
                  <a:lnTo>
                    <a:pt x="124460" y="1721898"/>
                  </a:lnTo>
                  <a:cubicBezTo>
                    <a:pt x="55880" y="1721898"/>
                    <a:pt x="0" y="1666018"/>
                    <a:pt x="0" y="1597438"/>
                  </a:cubicBezTo>
                  <a:lnTo>
                    <a:pt x="0" y="124460"/>
                  </a:lnTo>
                  <a:cubicBezTo>
                    <a:pt x="0" y="55880"/>
                    <a:pt x="55880" y="0"/>
                    <a:pt x="124460" y="0"/>
                  </a:cubicBezTo>
                  <a:lnTo>
                    <a:pt x="8063273" y="0"/>
                  </a:lnTo>
                  <a:cubicBezTo>
                    <a:pt x="8131852" y="0"/>
                    <a:pt x="8187733" y="55880"/>
                    <a:pt x="8187733" y="124460"/>
                  </a:cubicBezTo>
                  <a:lnTo>
                    <a:pt x="8187733" y="1597438"/>
                  </a:lnTo>
                  <a:cubicBezTo>
                    <a:pt x="8187733" y="1666018"/>
                    <a:pt x="8131852" y="1721898"/>
                    <a:pt x="8063273" y="1721898"/>
                  </a:cubicBezTo>
                  <a:close/>
                </a:path>
              </a:pathLst>
            </a:custGeom>
            <a:solidFill>
              <a:srgbClr val="FFFFFF"/>
            </a:solidFill>
          </p:spPr>
        </p:sp>
      </p:grpSp>
      <p:sp>
        <p:nvSpPr>
          <p:cNvPr name="Freeform 11" id="11"/>
          <p:cNvSpPr/>
          <p:nvPr/>
        </p:nvSpPr>
        <p:spPr>
          <a:xfrm flipH="false" flipV="false" rot="0">
            <a:off x="2162206" y="4072227"/>
            <a:ext cx="1120189" cy="1120189"/>
          </a:xfrm>
          <a:custGeom>
            <a:avLst/>
            <a:gdLst/>
            <a:ahLst/>
            <a:cxnLst/>
            <a:rect r="r" b="b" t="t" l="l"/>
            <a:pathLst>
              <a:path h="1120189" w="1120189">
                <a:moveTo>
                  <a:pt x="0" y="0"/>
                </a:moveTo>
                <a:lnTo>
                  <a:pt x="1120189" y="0"/>
                </a:lnTo>
                <a:lnTo>
                  <a:pt x="1120189" y="1120189"/>
                </a:lnTo>
                <a:lnTo>
                  <a:pt x="0" y="11201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2092761" y="5648593"/>
            <a:ext cx="1259079" cy="125907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2240"/>
                </a:lnSpc>
              </a:pPr>
            </a:p>
          </p:txBody>
        </p:sp>
      </p:grpSp>
      <p:grpSp>
        <p:nvGrpSpPr>
          <p:cNvPr name="Group 15" id="15"/>
          <p:cNvGrpSpPr/>
          <p:nvPr/>
        </p:nvGrpSpPr>
        <p:grpSpPr>
          <a:xfrm rot="0">
            <a:off x="2722300" y="5648835"/>
            <a:ext cx="5987001" cy="1259079"/>
            <a:chOff x="0" y="0"/>
            <a:chExt cx="8187732" cy="1721898"/>
          </a:xfrm>
        </p:grpSpPr>
        <p:sp>
          <p:nvSpPr>
            <p:cNvPr name="Freeform 16" id="16"/>
            <p:cNvSpPr/>
            <p:nvPr/>
          </p:nvSpPr>
          <p:spPr>
            <a:xfrm flipH="false" flipV="false" rot="0">
              <a:off x="0" y="0"/>
              <a:ext cx="8187733" cy="1721898"/>
            </a:xfrm>
            <a:custGeom>
              <a:avLst/>
              <a:gdLst/>
              <a:ahLst/>
              <a:cxnLst/>
              <a:rect r="r" b="b" t="t" l="l"/>
              <a:pathLst>
                <a:path h="1721898" w="8187733">
                  <a:moveTo>
                    <a:pt x="8063272" y="1721898"/>
                  </a:moveTo>
                  <a:lnTo>
                    <a:pt x="124460" y="1721898"/>
                  </a:lnTo>
                  <a:cubicBezTo>
                    <a:pt x="55880" y="1721898"/>
                    <a:pt x="0" y="1666018"/>
                    <a:pt x="0" y="1597438"/>
                  </a:cubicBezTo>
                  <a:lnTo>
                    <a:pt x="0" y="124460"/>
                  </a:lnTo>
                  <a:cubicBezTo>
                    <a:pt x="0" y="55880"/>
                    <a:pt x="55880" y="0"/>
                    <a:pt x="124460" y="0"/>
                  </a:cubicBezTo>
                  <a:lnTo>
                    <a:pt x="8063273" y="0"/>
                  </a:lnTo>
                  <a:cubicBezTo>
                    <a:pt x="8131852" y="0"/>
                    <a:pt x="8187733" y="55880"/>
                    <a:pt x="8187733" y="124460"/>
                  </a:cubicBezTo>
                  <a:lnTo>
                    <a:pt x="8187733" y="1597438"/>
                  </a:lnTo>
                  <a:cubicBezTo>
                    <a:pt x="8187733" y="1666018"/>
                    <a:pt x="8131852" y="1721898"/>
                    <a:pt x="8063273" y="1721898"/>
                  </a:cubicBezTo>
                  <a:close/>
                </a:path>
              </a:pathLst>
            </a:custGeom>
            <a:solidFill>
              <a:srgbClr val="FFFFFF"/>
            </a:solidFill>
          </p:spPr>
        </p:sp>
      </p:grpSp>
      <p:grpSp>
        <p:nvGrpSpPr>
          <p:cNvPr name="Group 17" id="17"/>
          <p:cNvGrpSpPr/>
          <p:nvPr/>
        </p:nvGrpSpPr>
        <p:grpSpPr>
          <a:xfrm rot="0">
            <a:off x="2162206" y="7298439"/>
            <a:ext cx="1259079" cy="125907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240"/>
                </a:lnSpc>
              </a:pPr>
            </a:p>
          </p:txBody>
        </p:sp>
      </p:grpSp>
      <p:grpSp>
        <p:nvGrpSpPr>
          <p:cNvPr name="Group 20" id="20"/>
          <p:cNvGrpSpPr/>
          <p:nvPr/>
        </p:nvGrpSpPr>
        <p:grpSpPr>
          <a:xfrm rot="0">
            <a:off x="2791746" y="7298681"/>
            <a:ext cx="5987001" cy="1259079"/>
            <a:chOff x="0" y="0"/>
            <a:chExt cx="8187732" cy="1721898"/>
          </a:xfrm>
        </p:grpSpPr>
        <p:sp>
          <p:nvSpPr>
            <p:cNvPr name="Freeform 21" id="21"/>
            <p:cNvSpPr/>
            <p:nvPr/>
          </p:nvSpPr>
          <p:spPr>
            <a:xfrm flipH="false" flipV="false" rot="0">
              <a:off x="0" y="0"/>
              <a:ext cx="8187733" cy="1721898"/>
            </a:xfrm>
            <a:custGeom>
              <a:avLst/>
              <a:gdLst/>
              <a:ahLst/>
              <a:cxnLst/>
              <a:rect r="r" b="b" t="t" l="l"/>
              <a:pathLst>
                <a:path h="1721898" w="8187733">
                  <a:moveTo>
                    <a:pt x="8063272" y="1721898"/>
                  </a:moveTo>
                  <a:lnTo>
                    <a:pt x="124460" y="1721898"/>
                  </a:lnTo>
                  <a:cubicBezTo>
                    <a:pt x="55880" y="1721898"/>
                    <a:pt x="0" y="1666018"/>
                    <a:pt x="0" y="1597438"/>
                  </a:cubicBezTo>
                  <a:lnTo>
                    <a:pt x="0" y="124460"/>
                  </a:lnTo>
                  <a:cubicBezTo>
                    <a:pt x="0" y="55880"/>
                    <a:pt x="55880" y="0"/>
                    <a:pt x="124460" y="0"/>
                  </a:cubicBezTo>
                  <a:lnTo>
                    <a:pt x="8063273" y="0"/>
                  </a:lnTo>
                  <a:cubicBezTo>
                    <a:pt x="8131852" y="0"/>
                    <a:pt x="8187733" y="55880"/>
                    <a:pt x="8187733" y="124460"/>
                  </a:cubicBezTo>
                  <a:lnTo>
                    <a:pt x="8187733" y="1597438"/>
                  </a:lnTo>
                  <a:cubicBezTo>
                    <a:pt x="8187733" y="1666018"/>
                    <a:pt x="8131852" y="1721898"/>
                    <a:pt x="8063273" y="1721898"/>
                  </a:cubicBezTo>
                  <a:close/>
                </a:path>
              </a:pathLst>
            </a:custGeom>
            <a:solidFill>
              <a:srgbClr val="FFFFFF"/>
            </a:solidFill>
          </p:spPr>
        </p:sp>
      </p:grpSp>
      <p:sp>
        <p:nvSpPr>
          <p:cNvPr name="Freeform 22" id="22"/>
          <p:cNvSpPr/>
          <p:nvPr/>
        </p:nvSpPr>
        <p:spPr>
          <a:xfrm flipH="false" flipV="false" rot="0">
            <a:off x="2162448" y="5720419"/>
            <a:ext cx="1119947" cy="1119947"/>
          </a:xfrm>
          <a:custGeom>
            <a:avLst/>
            <a:gdLst/>
            <a:ahLst/>
            <a:cxnLst/>
            <a:rect r="r" b="b" t="t" l="l"/>
            <a:pathLst>
              <a:path h="1119947" w="1119947">
                <a:moveTo>
                  <a:pt x="0" y="0"/>
                </a:moveTo>
                <a:lnTo>
                  <a:pt x="1119947" y="0"/>
                </a:lnTo>
                <a:lnTo>
                  <a:pt x="1119947" y="1119946"/>
                </a:lnTo>
                <a:lnTo>
                  <a:pt x="0" y="1119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3" id="23"/>
          <p:cNvGrpSpPr/>
          <p:nvPr/>
        </p:nvGrpSpPr>
        <p:grpSpPr>
          <a:xfrm rot="0">
            <a:off x="9720916" y="4002297"/>
            <a:ext cx="1259079" cy="1259079"/>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2240"/>
                </a:lnSpc>
              </a:pPr>
            </a:p>
          </p:txBody>
        </p:sp>
      </p:grpSp>
      <p:grpSp>
        <p:nvGrpSpPr>
          <p:cNvPr name="Group 26" id="26"/>
          <p:cNvGrpSpPr/>
          <p:nvPr/>
        </p:nvGrpSpPr>
        <p:grpSpPr>
          <a:xfrm rot="0">
            <a:off x="10350456" y="4002539"/>
            <a:ext cx="5987001" cy="1259079"/>
            <a:chOff x="0" y="0"/>
            <a:chExt cx="8187732" cy="1721898"/>
          </a:xfrm>
        </p:grpSpPr>
        <p:sp>
          <p:nvSpPr>
            <p:cNvPr name="Freeform 27" id="27"/>
            <p:cNvSpPr/>
            <p:nvPr/>
          </p:nvSpPr>
          <p:spPr>
            <a:xfrm flipH="false" flipV="false" rot="0">
              <a:off x="0" y="0"/>
              <a:ext cx="8187733" cy="1721898"/>
            </a:xfrm>
            <a:custGeom>
              <a:avLst/>
              <a:gdLst/>
              <a:ahLst/>
              <a:cxnLst/>
              <a:rect r="r" b="b" t="t" l="l"/>
              <a:pathLst>
                <a:path h="1721898" w="8187733">
                  <a:moveTo>
                    <a:pt x="8063272" y="1721898"/>
                  </a:moveTo>
                  <a:lnTo>
                    <a:pt x="124460" y="1721898"/>
                  </a:lnTo>
                  <a:cubicBezTo>
                    <a:pt x="55880" y="1721898"/>
                    <a:pt x="0" y="1666018"/>
                    <a:pt x="0" y="1597438"/>
                  </a:cubicBezTo>
                  <a:lnTo>
                    <a:pt x="0" y="124460"/>
                  </a:lnTo>
                  <a:cubicBezTo>
                    <a:pt x="0" y="55880"/>
                    <a:pt x="55880" y="0"/>
                    <a:pt x="124460" y="0"/>
                  </a:cubicBezTo>
                  <a:lnTo>
                    <a:pt x="8063273" y="0"/>
                  </a:lnTo>
                  <a:cubicBezTo>
                    <a:pt x="8131852" y="0"/>
                    <a:pt x="8187733" y="55880"/>
                    <a:pt x="8187733" y="124460"/>
                  </a:cubicBezTo>
                  <a:lnTo>
                    <a:pt x="8187733" y="1597438"/>
                  </a:lnTo>
                  <a:cubicBezTo>
                    <a:pt x="8187733" y="1666018"/>
                    <a:pt x="8131852" y="1721898"/>
                    <a:pt x="8063273" y="1721898"/>
                  </a:cubicBezTo>
                  <a:close/>
                </a:path>
              </a:pathLst>
            </a:custGeom>
            <a:solidFill>
              <a:srgbClr val="FFFFFF"/>
            </a:solidFill>
          </p:spPr>
        </p:sp>
      </p:grpSp>
      <p:grpSp>
        <p:nvGrpSpPr>
          <p:cNvPr name="Group 28" id="28"/>
          <p:cNvGrpSpPr/>
          <p:nvPr/>
        </p:nvGrpSpPr>
        <p:grpSpPr>
          <a:xfrm rot="0">
            <a:off x="9720916" y="5648351"/>
            <a:ext cx="1259079" cy="1259079"/>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47625"/>
              <a:ext cx="660400" cy="688975"/>
            </a:xfrm>
            <a:prstGeom prst="rect">
              <a:avLst/>
            </a:prstGeom>
          </p:spPr>
          <p:txBody>
            <a:bodyPr anchor="ctr" rtlCol="false" tIns="50800" lIns="50800" bIns="50800" rIns="50800"/>
            <a:lstStyle/>
            <a:p>
              <a:pPr algn="ctr">
                <a:lnSpc>
                  <a:spcPts val="2240"/>
                </a:lnSpc>
              </a:pPr>
            </a:p>
          </p:txBody>
        </p:sp>
      </p:grpSp>
      <p:grpSp>
        <p:nvGrpSpPr>
          <p:cNvPr name="Group 31" id="31"/>
          <p:cNvGrpSpPr/>
          <p:nvPr/>
        </p:nvGrpSpPr>
        <p:grpSpPr>
          <a:xfrm rot="0">
            <a:off x="10350456" y="5648593"/>
            <a:ext cx="5987001" cy="1259079"/>
            <a:chOff x="0" y="0"/>
            <a:chExt cx="8187732" cy="1721898"/>
          </a:xfrm>
        </p:grpSpPr>
        <p:sp>
          <p:nvSpPr>
            <p:cNvPr name="Freeform 32" id="32"/>
            <p:cNvSpPr/>
            <p:nvPr/>
          </p:nvSpPr>
          <p:spPr>
            <a:xfrm flipH="false" flipV="false" rot="0">
              <a:off x="0" y="0"/>
              <a:ext cx="8187733" cy="1721898"/>
            </a:xfrm>
            <a:custGeom>
              <a:avLst/>
              <a:gdLst/>
              <a:ahLst/>
              <a:cxnLst/>
              <a:rect r="r" b="b" t="t" l="l"/>
              <a:pathLst>
                <a:path h="1721898" w="8187733">
                  <a:moveTo>
                    <a:pt x="8063272" y="1721898"/>
                  </a:moveTo>
                  <a:lnTo>
                    <a:pt x="124460" y="1721898"/>
                  </a:lnTo>
                  <a:cubicBezTo>
                    <a:pt x="55880" y="1721898"/>
                    <a:pt x="0" y="1666018"/>
                    <a:pt x="0" y="1597438"/>
                  </a:cubicBezTo>
                  <a:lnTo>
                    <a:pt x="0" y="124460"/>
                  </a:lnTo>
                  <a:cubicBezTo>
                    <a:pt x="0" y="55880"/>
                    <a:pt x="55880" y="0"/>
                    <a:pt x="124460" y="0"/>
                  </a:cubicBezTo>
                  <a:lnTo>
                    <a:pt x="8063273" y="0"/>
                  </a:lnTo>
                  <a:cubicBezTo>
                    <a:pt x="8131852" y="0"/>
                    <a:pt x="8187733" y="55880"/>
                    <a:pt x="8187733" y="124460"/>
                  </a:cubicBezTo>
                  <a:lnTo>
                    <a:pt x="8187733" y="1597438"/>
                  </a:lnTo>
                  <a:cubicBezTo>
                    <a:pt x="8187733" y="1666018"/>
                    <a:pt x="8131852" y="1721898"/>
                    <a:pt x="8063273" y="1721898"/>
                  </a:cubicBezTo>
                  <a:close/>
                </a:path>
              </a:pathLst>
            </a:custGeom>
            <a:solidFill>
              <a:srgbClr val="FFFFFF"/>
            </a:solidFill>
          </p:spPr>
        </p:sp>
      </p:grpSp>
      <p:sp>
        <p:nvSpPr>
          <p:cNvPr name="Freeform 33" id="33"/>
          <p:cNvSpPr/>
          <p:nvPr/>
        </p:nvSpPr>
        <p:spPr>
          <a:xfrm flipH="false" flipV="false" rot="0">
            <a:off x="9805997" y="5720419"/>
            <a:ext cx="1104553" cy="1104553"/>
          </a:xfrm>
          <a:custGeom>
            <a:avLst/>
            <a:gdLst/>
            <a:ahLst/>
            <a:cxnLst/>
            <a:rect r="r" b="b" t="t" l="l"/>
            <a:pathLst>
              <a:path h="1104553" w="1104553">
                <a:moveTo>
                  <a:pt x="0" y="0"/>
                </a:moveTo>
                <a:lnTo>
                  <a:pt x="1104553" y="0"/>
                </a:lnTo>
                <a:lnTo>
                  <a:pt x="1104553" y="1104553"/>
                </a:lnTo>
                <a:lnTo>
                  <a:pt x="0" y="11045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2231893" y="7368490"/>
            <a:ext cx="1119947" cy="1119947"/>
          </a:xfrm>
          <a:custGeom>
            <a:avLst/>
            <a:gdLst/>
            <a:ahLst/>
            <a:cxnLst/>
            <a:rect r="r" b="b" t="t" l="l"/>
            <a:pathLst>
              <a:path h="1119947" w="1119947">
                <a:moveTo>
                  <a:pt x="0" y="0"/>
                </a:moveTo>
                <a:lnTo>
                  <a:pt x="1119947" y="0"/>
                </a:lnTo>
                <a:lnTo>
                  <a:pt x="1119947" y="1119946"/>
                </a:lnTo>
                <a:lnTo>
                  <a:pt x="0" y="11199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9805997" y="4087862"/>
            <a:ext cx="1104553" cy="1104553"/>
          </a:xfrm>
          <a:custGeom>
            <a:avLst/>
            <a:gdLst/>
            <a:ahLst/>
            <a:cxnLst/>
            <a:rect r="r" b="b" t="t" l="l"/>
            <a:pathLst>
              <a:path h="1104553" w="1104553">
                <a:moveTo>
                  <a:pt x="0" y="0"/>
                </a:moveTo>
                <a:lnTo>
                  <a:pt x="1104553" y="0"/>
                </a:lnTo>
                <a:lnTo>
                  <a:pt x="1104553" y="1104554"/>
                </a:lnTo>
                <a:lnTo>
                  <a:pt x="0" y="110455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6" id="36"/>
          <p:cNvGrpSpPr/>
          <p:nvPr/>
        </p:nvGrpSpPr>
        <p:grpSpPr>
          <a:xfrm rot="0">
            <a:off x="9720916" y="7286316"/>
            <a:ext cx="1259079" cy="125907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8" id="38"/>
            <p:cNvSpPr txBox="true"/>
            <p:nvPr/>
          </p:nvSpPr>
          <p:spPr>
            <a:xfrm>
              <a:off x="76200" y="47625"/>
              <a:ext cx="660400" cy="688975"/>
            </a:xfrm>
            <a:prstGeom prst="rect">
              <a:avLst/>
            </a:prstGeom>
          </p:spPr>
          <p:txBody>
            <a:bodyPr anchor="ctr" rtlCol="false" tIns="50800" lIns="50800" bIns="50800" rIns="50800"/>
            <a:lstStyle/>
            <a:p>
              <a:pPr algn="ctr">
                <a:lnSpc>
                  <a:spcPts val="2240"/>
                </a:lnSpc>
              </a:pPr>
            </a:p>
          </p:txBody>
        </p:sp>
      </p:grpSp>
      <p:grpSp>
        <p:nvGrpSpPr>
          <p:cNvPr name="Group 39" id="39"/>
          <p:cNvGrpSpPr/>
          <p:nvPr/>
        </p:nvGrpSpPr>
        <p:grpSpPr>
          <a:xfrm rot="0">
            <a:off x="10350456" y="7286558"/>
            <a:ext cx="5987001" cy="1259079"/>
            <a:chOff x="0" y="0"/>
            <a:chExt cx="8187732" cy="1721898"/>
          </a:xfrm>
        </p:grpSpPr>
        <p:sp>
          <p:nvSpPr>
            <p:cNvPr name="Freeform 40" id="40"/>
            <p:cNvSpPr/>
            <p:nvPr/>
          </p:nvSpPr>
          <p:spPr>
            <a:xfrm flipH="false" flipV="false" rot="0">
              <a:off x="0" y="0"/>
              <a:ext cx="8187733" cy="1721898"/>
            </a:xfrm>
            <a:custGeom>
              <a:avLst/>
              <a:gdLst/>
              <a:ahLst/>
              <a:cxnLst/>
              <a:rect r="r" b="b" t="t" l="l"/>
              <a:pathLst>
                <a:path h="1721898" w="8187733">
                  <a:moveTo>
                    <a:pt x="8063272" y="1721898"/>
                  </a:moveTo>
                  <a:lnTo>
                    <a:pt x="124460" y="1721898"/>
                  </a:lnTo>
                  <a:cubicBezTo>
                    <a:pt x="55880" y="1721898"/>
                    <a:pt x="0" y="1666018"/>
                    <a:pt x="0" y="1597438"/>
                  </a:cubicBezTo>
                  <a:lnTo>
                    <a:pt x="0" y="124460"/>
                  </a:lnTo>
                  <a:cubicBezTo>
                    <a:pt x="0" y="55880"/>
                    <a:pt x="55880" y="0"/>
                    <a:pt x="124460" y="0"/>
                  </a:cubicBezTo>
                  <a:lnTo>
                    <a:pt x="8063273" y="0"/>
                  </a:lnTo>
                  <a:cubicBezTo>
                    <a:pt x="8131852" y="0"/>
                    <a:pt x="8187733" y="55880"/>
                    <a:pt x="8187733" y="124460"/>
                  </a:cubicBezTo>
                  <a:lnTo>
                    <a:pt x="8187733" y="1597438"/>
                  </a:lnTo>
                  <a:cubicBezTo>
                    <a:pt x="8187733" y="1666018"/>
                    <a:pt x="8131852" y="1721898"/>
                    <a:pt x="8063273" y="1721898"/>
                  </a:cubicBezTo>
                  <a:close/>
                </a:path>
              </a:pathLst>
            </a:custGeom>
            <a:solidFill>
              <a:srgbClr val="FFFFFF"/>
            </a:solidFill>
          </p:spPr>
        </p:sp>
      </p:grpSp>
      <p:sp>
        <p:nvSpPr>
          <p:cNvPr name="Freeform 41" id="41"/>
          <p:cNvSpPr/>
          <p:nvPr/>
        </p:nvSpPr>
        <p:spPr>
          <a:xfrm flipH="false" flipV="false" rot="0">
            <a:off x="9793863" y="7351445"/>
            <a:ext cx="1128821" cy="1128821"/>
          </a:xfrm>
          <a:custGeom>
            <a:avLst/>
            <a:gdLst/>
            <a:ahLst/>
            <a:cxnLst/>
            <a:rect r="r" b="b" t="t" l="l"/>
            <a:pathLst>
              <a:path h="1128821" w="1128821">
                <a:moveTo>
                  <a:pt x="0" y="0"/>
                </a:moveTo>
                <a:lnTo>
                  <a:pt x="1128821" y="0"/>
                </a:lnTo>
                <a:lnTo>
                  <a:pt x="1128821" y="1128821"/>
                </a:lnTo>
                <a:lnTo>
                  <a:pt x="0" y="112882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2" id="42"/>
          <p:cNvSpPr txBox="true"/>
          <p:nvPr/>
        </p:nvSpPr>
        <p:spPr>
          <a:xfrm rot="0">
            <a:off x="3462838" y="4307826"/>
            <a:ext cx="4925101" cy="596900"/>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Quicksand"/>
                <a:ea typeface="Quicksand"/>
                <a:cs typeface="Quicksand"/>
                <a:sym typeface="Quicksand"/>
              </a:rPr>
              <a:t>Introduction</a:t>
            </a:r>
          </a:p>
        </p:txBody>
      </p:sp>
      <p:sp>
        <p:nvSpPr>
          <p:cNvPr name="TextBox 43" id="43"/>
          <p:cNvSpPr txBox="true"/>
          <p:nvPr/>
        </p:nvSpPr>
        <p:spPr>
          <a:xfrm rot="0">
            <a:off x="11246448" y="4308351"/>
            <a:ext cx="4925101" cy="596900"/>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Quicksand"/>
                <a:ea typeface="Quicksand"/>
                <a:cs typeface="Quicksand"/>
                <a:sym typeface="Quicksand"/>
              </a:rPr>
              <a:t>Dataset Cleaning</a:t>
            </a:r>
          </a:p>
        </p:txBody>
      </p:sp>
      <p:sp>
        <p:nvSpPr>
          <p:cNvPr name="TextBox 44" id="44"/>
          <p:cNvSpPr txBox="true"/>
          <p:nvPr/>
        </p:nvSpPr>
        <p:spPr>
          <a:xfrm rot="0">
            <a:off x="3462838" y="5957186"/>
            <a:ext cx="4925101" cy="596900"/>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Quicksand"/>
                <a:ea typeface="Quicksand"/>
                <a:cs typeface="Quicksand"/>
                <a:sym typeface="Quicksand"/>
              </a:rPr>
              <a:t>Main Architecture</a:t>
            </a:r>
          </a:p>
        </p:txBody>
      </p:sp>
      <p:sp>
        <p:nvSpPr>
          <p:cNvPr name="TextBox 45" id="45"/>
          <p:cNvSpPr txBox="true"/>
          <p:nvPr/>
        </p:nvSpPr>
        <p:spPr>
          <a:xfrm rot="0">
            <a:off x="2255346" y="2138815"/>
            <a:ext cx="13777308" cy="1473200"/>
          </a:xfrm>
          <a:prstGeom prst="rect">
            <a:avLst/>
          </a:prstGeom>
        </p:spPr>
        <p:txBody>
          <a:bodyPr anchor="t" rtlCol="false" tIns="0" lIns="0" bIns="0" rIns="0">
            <a:spAutoFit/>
          </a:bodyPr>
          <a:lstStyle/>
          <a:p>
            <a:pPr algn="ctr">
              <a:lnSpc>
                <a:spcPts val="11499"/>
              </a:lnSpc>
            </a:pPr>
            <a:r>
              <a:rPr lang="en-US" sz="9999">
                <a:solidFill>
                  <a:srgbClr val="FFFFFF"/>
                </a:solidFill>
                <a:latin typeface="Sunborn"/>
                <a:ea typeface="Sunborn"/>
                <a:cs typeface="Sunborn"/>
                <a:sym typeface="Sunborn"/>
              </a:rPr>
              <a:t>SUMMARY</a:t>
            </a:r>
          </a:p>
        </p:txBody>
      </p:sp>
      <p:sp>
        <p:nvSpPr>
          <p:cNvPr name="TextBox 46" id="46"/>
          <p:cNvSpPr txBox="true"/>
          <p:nvPr/>
        </p:nvSpPr>
        <p:spPr>
          <a:xfrm rot="0">
            <a:off x="3696402" y="7584189"/>
            <a:ext cx="4760982" cy="596900"/>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Quicksand"/>
                <a:ea typeface="Quicksand"/>
                <a:cs typeface="Quicksand"/>
                <a:sym typeface="Quicksand"/>
              </a:rPr>
              <a:t>Image Reconstruction</a:t>
            </a:r>
          </a:p>
        </p:txBody>
      </p:sp>
      <p:sp>
        <p:nvSpPr>
          <p:cNvPr name="TextBox 47" id="47"/>
          <p:cNvSpPr txBox="true"/>
          <p:nvPr/>
        </p:nvSpPr>
        <p:spPr>
          <a:xfrm rot="0">
            <a:off x="11094295" y="5940908"/>
            <a:ext cx="5229405" cy="596900"/>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Quicksand"/>
                <a:ea typeface="Quicksand"/>
                <a:cs typeface="Quicksand"/>
                <a:sym typeface="Quicksand"/>
              </a:rPr>
              <a:t>Custom Transformer</a:t>
            </a:r>
          </a:p>
        </p:txBody>
      </p:sp>
      <p:sp>
        <p:nvSpPr>
          <p:cNvPr name="TextBox 48" id="48"/>
          <p:cNvSpPr txBox="true"/>
          <p:nvPr/>
        </p:nvSpPr>
        <p:spPr>
          <a:xfrm rot="0">
            <a:off x="11255112" y="7572066"/>
            <a:ext cx="4760982" cy="596900"/>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Quicksand"/>
                <a:ea typeface="Quicksand"/>
                <a:cs typeface="Quicksand"/>
                <a:sym typeface="Quicksand"/>
              </a:rPr>
              <a:t>Conclusions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667388" y="651089"/>
            <a:ext cx="16953223" cy="8984823"/>
            <a:chOff x="0" y="0"/>
            <a:chExt cx="4465046" cy="2366373"/>
          </a:xfrm>
        </p:grpSpPr>
        <p:sp>
          <p:nvSpPr>
            <p:cNvPr name="Freeform 4" id="4"/>
            <p:cNvSpPr/>
            <p:nvPr/>
          </p:nvSpPr>
          <p:spPr>
            <a:xfrm flipH="false" flipV="false" rot="0">
              <a:off x="0" y="0"/>
              <a:ext cx="4465046" cy="2366373"/>
            </a:xfrm>
            <a:custGeom>
              <a:avLst/>
              <a:gdLst/>
              <a:ahLst/>
              <a:cxnLst/>
              <a:rect r="r" b="b" t="t" l="l"/>
              <a:pathLst>
                <a:path h="2366373" w="4465046">
                  <a:moveTo>
                    <a:pt x="0" y="0"/>
                  </a:moveTo>
                  <a:lnTo>
                    <a:pt x="4465046" y="0"/>
                  </a:lnTo>
                  <a:lnTo>
                    <a:pt x="4465046" y="2366373"/>
                  </a:lnTo>
                  <a:lnTo>
                    <a:pt x="0" y="2366373"/>
                  </a:lnTo>
                  <a:close/>
                </a:path>
              </a:pathLst>
            </a:custGeom>
            <a:solidFill>
              <a:srgbClr val="495B80"/>
            </a:solidFill>
            <a:ln w="38100" cap="sq">
              <a:solidFill>
                <a:srgbClr val="000000"/>
              </a:solidFill>
              <a:prstDash val="solid"/>
              <a:miter/>
            </a:ln>
          </p:spPr>
        </p:sp>
        <p:sp>
          <p:nvSpPr>
            <p:cNvPr name="TextBox 5" id="5"/>
            <p:cNvSpPr txBox="true"/>
            <p:nvPr/>
          </p:nvSpPr>
          <p:spPr>
            <a:xfrm>
              <a:off x="0" y="-38100"/>
              <a:ext cx="4465046" cy="240447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124786">
            <a:off x="200679" y="-331413"/>
            <a:ext cx="3825734" cy="3859505"/>
          </a:xfrm>
          <a:custGeom>
            <a:avLst/>
            <a:gdLst/>
            <a:ahLst/>
            <a:cxnLst/>
            <a:rect r="r" b="b" t="t" l="l"/>
            <a:pathLst>
              <a:path h="3859505" w="3825734">
                <a:moveTo>
                  <a:pt x="0" y="0"/>
                </a:moveTo>
                <a:lnTo>
                  <a:pt x="3825734" y="0"/>
                </a:lnTo>
                <a:lnTo>
                  <a:pt x="3825734" y="3859505"/>
                </a:lnTo>
                <a:lnTo>
                  <a:pt x="0" y="3859505"/>
                </a:lnTo>
                <a:lnTo>
                  <a:pt x="0" y="0"/>
                </a:lnTo>
                <a:close/>
              </a:path>
            </a:pathLst>
          </a:custGeom>
          <a:blipFill>
            <a:blip r:embed="rId3"/>
            <a:stretch>
              <a:fillRect l="0" t="0" r="0" b="0"/>
            </a:stretch>
          </a:blipFill>
        </p:spPr>
      </p:sp>
      <p:sp>
        <p:nvSpPr>
          <p:cNvPr name="Freeform 7" id="7"/>
          <p:cNvSpPr/>
          <p:nvPr/>
        </p:nvSpPr>
        <p:spPr>
          <a:xfrm flipH="false" flipV="false" rot="2103998">
            <a:off x="14975093" y="219946"/>
            <a:ext cx="3457815" cy="2057400"/>
          </a:xfrm>
          <a:custGeom>
            <a:avLst/>
            <a:gdLst/>
            <a:ahLst/>
            <a:cxnLst/>
            <a:rect r="r" b="b" t="t" l="l"/>
            <a:pathLst>
              <a:path h="2057400" w="3457815">
                <a:moveTo>
                  <a:pt x="0" y="0"/>
                </a:moveTo>
                <a:lnTo>
                  <a:pt x="3457815" y="0"/>
                </a:lnTo>
                <a:lnTo>
                  <a:pt x="3457815"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4545121" y="2029640"/>
            <a:ext cx="12406300" cy="121602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Quicksand"/>
                <a:ea typeface="Quicksand"/>
                <a:cs typeface="Quicksand"/>
                <a:sym typeface="Quicksand"/>
              </a:rPr>
              <a:t>Multi-Modal Chest X-Ray Analysis: Classification, Report Generation, and Image Reconstruction</a:t>
            </a:r>
          </a:p>
        </p:txBody>
      </p:sp>
      <p:sp>
        <p:nvSpPr>
          <p:cNvPr name="TextBox 9" id="9"/>
          <p:cNvSpPr txBox="true"/>
          <p:nvPr/>
        </p:nvSpPr>
        <p:spPr>
          <a:xfrm rot="0">
            <a:off x="4147074" y="1066800"/>
            <a:ext cx="7102093" cy="946150"/>
          </a:xfrm>
          <a:prstGeom prst="rect">
            <a:avLst/>
          </a:prstGeom>
        </p:spPr>
        <p:txBody>
          <a:bodyPr anchor="t" rtlCol="false" tIns="0" lIns="0" bIns="0" rIns="0">
            <a:spAutoFit/>
          </a:bodyPr>
          <a:lstStyle/>
          <a:p>
            <a:pPr algn="ctr">
              <a:lnSpc>
                <a:spcPts val="7475"/>
              </a:lnSpc>
            </a:pPr>
            <a:r>
              <a:rPr lang="en-US" sz="6500">
                <a:solidFill>
                  <a:srgbClr val="FFFFFF"/>
                </a:solidFill>
                <a:latin typeface="Sunborn"/>
                <a:ea typeface="Sunborn"/>
                <a:cs typeface="Sunborn"/>
                <a:sym typeface="Sunborn"/>
              </a:rPr>
              <a:t>INTRODUCTION</a:t>
            </a:r>
          </a:p>
        </p:txBody>
      </p:sp>
      <p:grpSp>
        <p:nvGrpSpPr>
          <p:cNvPr name="Group 10" id="10"/>
          <p:cNvGrpSpPr/>
          <p:nvPr/>
        </p:nvGrpSpPr>
        <p:grpSpPr>
          <a:xfrm rot="0">
            <a:off x="1850874" y="4538239"/>
            <a:ext cx="4312699" cy="4262685"/>
            <a:chOff x="0" y="0"/>
            <a:chExt cx="1411618" cy="1395248"/>
          </a:xfrm>
        </p:grpSpPr>
        <p:sp>
          <p:nvSpPr>
            <p:cNvPr name="Freeform 11" id="11"/>
            <p:cNvSpPr/>
            <p:nvPr/>
          </p:nvSpPr>
          <p:spPr>
            <a:xfrm flipH="false" flipV="false" rot="0">
              <a:off x="0" y="0"/>
              <a:ext cx="1411618" cy="1395248"/>
            </a:xfrm>
            <a:custGeom>
              <a:avLst/>
              <a:gdLst/>
              <a:ahLst/>
              <a:cxnLst/>
              <a:rect r="r" b="b" t="t" l="l"/>
              <a:pathLst>
                <a:path h="1395248" w="1411618">
                  <a:moveTo>
                    <a:pt x="0" y="0"/>
                  </a:moveTo>
                  <a:lnTo>
                    <a:pt x="1411618" y="0"/>
                  </a:lnTo>
                  <a:lnTo>
                    <a:pt x="1411618" y="1395248"/>
                  </a:lnTo>
                  <a:lnTo>
                    <a:pt x="0" y="1395248"/>
                  </a:lnTo>
                  <a:close/>
                </a:path>
              </a:pathLst>
            </a:custGeom>
            <a:solidFill>
              <a:srgbClr val="FD7B8B"/>
            </a:solidFill>
            <a:ln w="38100" cap="sq">
              <a:solidFill>
                <a:srgbClr val="000000"/>
              </a:solidFill>
              <a:prstDash val="solid"/>
              <a:miter/>
            </a:ln>
          </p:spPr>
        </p:sp>
        <p:sp>
          <p:nvSpPr>
            <p:cNvPr name="TextBox 12" id="12"/>
            <p:cNvSpPr txBox="true"/>
            <p:nvPr/>
          </p:nvSpPr>
          <p:spPr>
            <a:xfrm>
              <a:off x="0" y="-38100"/>
              <a:ext cx="1411618" cy="1433348"/>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886078" y="4538239"/>
            <a:ext cx="4312699" cy="4262685"/>
            <a:chOff x="0" y="0"/>
            <a:chExt cx="1411618" cy="1395248"/>
          </a:xfrm>
        </p:grpSpPr>
        <p:sp>
          <p:nvSpPr>
            <p:cNvPr name="Freeform 14" id="14"/>
            <p:cNvSpPr/>
            <p:nvPr/>
          </p:nvSpPr>
          <p:spPr>
            <a:xfrm flipH="false" flipV="false" rot="0">
              <a:off x="0" y="0"/>
              <a:ext cx="1411618" cy="1395248"/>
            </a:xfrm>
            <a:custGeom>
              <a:avLst/>
              <a:gdLst/>
              <a:ahLst/>
              <a:cxnLst/>
              <a:rect r="r" b="b" t="t" l="l"/>
              <a:pathLst>
                <a:path h="1395248" w="1411618">
                  <a:moveTo>
                    <a:pt x="0" y="0"/>
                  </a:moveTo>
                  <a:lnTo>
                    <a:pt x="1411618" y="0"/>
                  </a:lnTo>
                  <a:lnTo>
                    <a:pt x="1411618" y="1395248"/>
                  </a:lnTo>
                  <a:lnTo>
                    <a:pt x="0" y="1395248"/>
                  </a:lnTo>
                  <a:close/>
                </a:path>
              </a:pathLst>
            </a:custGeom>
            <a:solidFill>
              <a:srgbClr val="FD7B8B"/>
            </a:solidFill>
            <a:ln w="38100" cap="sq">
              <a:solidFill>
                <a:srgbClr val="000000"/>
              </a:solidFill>
              <a:prstDash val="solid"/>
              <a:miter/>
            </a:ln>
          </p:spPr>
        </p:sp>
        <p:sp>
          <p:nvSpPr>
            <p:cNvPr name="TextBox 15" id="15"/>
            <p:cNvSpPr txBox="true"/>
            <p:nvPr/>
          </p:nvSpPr>
          <p:spPr>
            <a:xfrm>
              <a:off x="0" y="-38100"/>
              <a:ext cx="1411618" cy="1433348"/>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2124427" y="4538239"/>
            <a:ext cx="4312699" cy="4262685"/>
            <a:chOff x="0" y="0"/>
            <a:chExt cx="1411618" cy="1395248"/>
          </a:xfrm>
        </p:grpSpPr>
        <p:sp>
          <p:nvSpPr>
            <p:cNvPr name="Freeform 17" id="17"/>
            <p:cNvSpPr/>
            <p:nvPr/>
          </p:nvSpPr>
          <p:spPr>
            <a:xfrm flipH="false" flipV="false" rot="0">
              <a:off x="0" y="0"/>
              <a:ext cx="1411618" cy="1395248"/>
            </a:xfrm>
            <a:custGeom>
              <a:avLst/>
              <a:gdLst/>
              <a:ahLst/>
              <a:cxnLst/>
              <a:rect r="r" b="b" t="t" l="l"/>
              <a:pathLst>
                <a:path h="1395248" w="1411618">
                  <a:moveTo>
                    <a:pt x="0" y="0"/>
                  </a:moveTo>
                  <a:lnTo>
                    <a:pt x="1411618" y="0"/>
                  </a:lnTo>
                  <a:lnTo>
                    <a:pt x="1411618" y="1395248"/>
                  </a:lnTo>
                  <a:lnTo>
                    <a:pt x="0" y="1395248"/>
                  </a:lnTo>
                  <a:close/>
                </a:path>
              </a:pathLst>
            </a:custGeom>
            <a:solidFill>
              <a:srgbClr val="FD7B8B"/>
            </a:solidFill>
            <a:ln w="38100" cap="sq">
              <a:solidFill>
                <a:srgbClr val="000000"/>
              </a:solidFill>
              <a:prstDash val="solid"/>
              <a:miter/>
            </a:ln>
          </p:spPr>
        </p:sp>
        <p:sp>
          <p:nvSpPr>
            <p:cNvPr name="TextBox 18" id="18"/>
            <p:cNvSpPr txBox="true"/>
            <p:nvPr/>
          </p:nvSpPr>
          <p:spPr>
            <a:xfrm>
              <a:off x="0" y="-38100"/>
              <a:ext cx="1411618" cy="1433348"/>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2359855" y="3833715"/>
            <a:ext cx="3371096" cy="1228710"/>
            <a:chOff x="0" y="0"/>
            <a:chExt cx="1103415" cy="402177"/>
          </a:xfrm>
        </p:grpSpPr>
        <p:sp>
          <p:nvSpPr>
            <p:cNvPr name="Freeform 20" id="20"/>
            <p:cNvSpPr/>
            <p:nvPr/>
          </p:nvSpPr>
          <p:spPr>
            <a:xfrm flipH="false" flipV="false" rot="0">
              <a:off x="0" y="0"/>
              <a:ext cx="1103415" cy="402177"/>
            </a:xfrm>
            <a:custGeom>
              <a:avLst/>
              <a:gdLst/>
              <a:ahLst/>
              <a:cxnLst/>
              <a:rect r="r" b="b" t="t" l="l"/>
              <a:pathLst>
                <a:path h="402177" w="1103415">
                  <a:moveTo>
                    <a:pt x="117125" y="0"/>
                  </a:moveTo>
                  <a:lnTo>
                    <a:pt x="986291" y="0"/>
                  </a:lnTo>
                  <a:cubicBezTo>
                    <a:pt x="1017354" y="0"/>
                    <a:pt x="1047145" y="12340"/>
                    <a:pt x="1069110" y="34305"/>
                  </a:cubicBezTo>
                  <a:cubicBezTo>
                    <a:pt x="1091076" y="56270"/>
                    <a:pt x="1103415" y="86061"/>
                    <a:pt x="1103415" y="117125"/>
                  </a:cubicBezTo>
                  <a:lnTo>
                    <a:pt x="1103415" y="285052"/>
                  </a:lnTo>
                  <a:cubicBezTo>
                    <a:pt x="1103415" y="349739"/>
                    <a:pt x="1050977" y="402177"/>
                    <a:pt x="986291" y="402177"/>
                  </a:cubicBezTo>
                  <a:lnTo>
                    <a:pt x="117125" y="402177"/>
                  </a:lnTo>
                  <a:cubicBezTo>
                    <a:pt x="86061" y="402177"/>
                    <a:pt x="56270" y="389837"/>
                    <a:pt x="34305" y="367872"/>
                  </a:cubicBezTo>
                  <a:cubicBezTo>
                    <a:pt x="12340" y="345907"/>
                    <a:pt x="0" y="316116"/>
                    <a:pt x="0" y="285052"/>
                  </a:cubicBezTo>
                  <a:lnTo>
                    <a:pt x="0" y="117125"/>
                  </a:lnTo>
                  <a:cubicBezTo>
                    <a:pt x="0" y="86061"/>
                    <a:pt x="12340" y="56270"/>
                    <a:pt x="34305" y="34305"/>
                  </a:cubicBezTo>
                  <a:cubicBezTo>
                    <a:pt x="56270" y="12340"/>
                    <a:pt x="86061" y="0"/>
                    <a:pt x="117125" y="0"/>
                  </a:cubicBezTo>
                  <a:close/>
                </a:path>
              </a:pathLst>
            </a:custGeom>
            <a:solidFill>
              <a:srgbClr val="C8E1EF"/>
            </a:solidFill>
            <a:ln w="38100" cap="rnd">
              <a:solidFill>
                <a:srgbClr val="000000"/>
              </a:solidFill>
              <a:prstDash val="solid"/>
              <a:round/>
            </a:ln>
          </p:spPr>
        </p:sp>
        <p:sp>
          <p:nvSpPr>
            <p:cNvPr name="TextBox 21" id="21"/>
            <p:cNvSpPr txBox="true"/>
            <p:nvPr/>
          </p:nvSpPr>
          <p:spPr>
            <a:xfrm>
              <a:off x="0" y="-38100"/>
              <a:ext cx="1103415" cy="440277"/>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2521556" y="3815356"/>
            <a:ext cx="2971334" cy="1198753"/>
          </a:xfrm>
          <a:prstGeom prst="rect">
            <a:avLst/>
          </a:prstGeom>
        </p:spPr>
        <p:txBody>
          <a:bodyPr anchor="t" rtlCol="false" tIns="0" lIns="0" bIns="0" rIns="0">
            <a:spAutoFit/>
          </a:bodyPr>
          <a:lstStyle/>
          <a:p>
            <a:pPr algn="ctr" marL="0" indent="0" lvl="0">
              <a:lnSpc>
                <a:spcPts val="4801"/>
              </a:lnSpc>
              <a:spcBef>
                <a:spcPct val="0"/>
              </a:spcBef>
            </a:pPr>
            <a:r>
              <a:rPr lang="en-US" b="true" sz="3429">
                <a:solidFill>
                  <a:srgbClr val="495B80"/>
                </a:solidFill>
                <a:latin typeface="Quicksand Bold"/>
                <a:ea typeface="Quicksand Bold"/>
                <a:cs typeface="Quicksand Bold"/>
                <a:sym typeface="Quicksand Bold"/>
              </a:rPr>
              <a:t>MOTIVATION &amp; CONTEXT</a:t>
            </a:r>
          </a:p>
        </p:txBody>
      </p:sp>
      <p:grpSp>
        <p:nvGrpSpPr>
          <p:cNvPr name="Group 23" id="23"/>
          <p:cNvGrpSpPr/>
          <p:nvPr/>
        </p:nvGrpSpPr>
        <p:grpSpPr>
          <a:xfrm rot="0">
            <a:off x="7356880" y="3829072"/>
            <a:ext cx="3371096" cy="1228710"/>
            <a:chOff x="0" y="0"/>
            <a:chExt cx="1103415" cy="402177"/>
          </a:xfrm>
        </p:grpSpPr>
        <p:sp>
          <p:nvSpPr>
            <p:cNvPr name="Freeform 24" id="24"/>
            <p:cNvSpPr/>
            <p:nvPr/>
          </p:nvSpPr>
          <p:spPr>
            <a:xfrm flipH="false" flipV="false" rot="0">
              <a:off x="0" y="0"/>
              <a:ext cx="1103415" cy="402177"/>
            </a:xfrm>
            <a:custGeom>
              <a:avLst/>
              <a:gdLst/>
              <a:ahLst/>
              <a:cxnLst/>
              <a:rect r="r" b="b" t="t" l="l"/>
              <a:pathLst>
                <a:path h="402177" w="1103415">
                  <a:moveTo>
                    <a:pt x="117125" y="0"/>
                  </a:moveTo>
                  <a:lnTo>
                    <a:pt x="986291" y="0"/>
                  </a:lnTo>
                  <a:cubicBezTo>
                    <a:pt x="1017354" y="0"/>
                    <a:pt x="1047145" y="12340"/>
                    <a:pt x="1069110" y="34305"/>
                  </a:cubicBezTo>
                  <a:cubicBezTo>
                    <a:pt x="1091076" y="56270"/>
                    <a:pt x="1103415" y="86061"/>
                    <a:pt x="1103415" y="117125"/>
                  </a:cubicBezTo>
                  <a:lnTo>
                    <a:pt x="1103415" y="285052"/>
                  </a:lnTo>
                  <a:cubicBezTo>
                    <a:pt x="1103415" y="349739"/>
                    <a:pt x="1050977" y="402177"/>
                    <a:pt x="986291" y="402177"/>
                  </a:cubicBezTo>
                  <a:lnTo>
                    <a:pt x="117125" y="402177"/>
                  </a:lnTo>
                  <a:cubicBezTo>
                    <a:pt x="86061" y="402177"/>
                    <a:pt x="56270" y="389837"/>
                    <a:pt x="34305" y="367872"/>
                  </a:cubicBezTo>
                  <a:cubicBezTo>
                    <a:pt x="12340" y="345907"/>
                    <a:pt x="0" y="316116"/>
                    <a:pt x="0" y="285052"/>
                  </a:cubicBezTo>
                  <a:lnTo>
                    <a:pt x="0" y="117125"/>
                  </a:lnTo>
                  <a:cubicBezTo>
                    <a:pt x="0" y="86061"/>
                    <a:pt x="12340" y="56270"/>
                    <a:pt x="34305" y="34305"/>
                  </a:cubicBezTo>
                  <a:cubicBezTo>
                    <a:pt x="56270" y="12340"/>
                    <a:pt x="86061" y="0"/>
                    <a:pt x="117125" y="0"/>
                  </a:cubicBezTo>
                  <a:close/>
                </a:path>
              </a:pathLst>
            </a:custGeom>
            <a:solidFill>
              <a:srgbClr val="C8E1EF"/>
            </a:solidFill>
            <a:ln w="38100" cap="rnd">
              <a:solidFill>
                <a:srgbClr val="000000"/>
              </a:solidFill>
              <a:prstDash val="solid"/>
              <a:round/>
            </a:ln>
          </p:spPr>
        </p:sp>
        <p:sp>
          <p:nvSpPr>
            <p:cNvPr name="TextBox 25" id="25"/>
            <p:cNvSpPr txBox="true"/>
            <p:nvPr/>
          </p:nvSpPr>
          <p:spPr>
            <a:xfrm>
              <a:off x="0" y="-38100"/>
              <a:ext cx="1103415" cy="440277"/>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7450549" y="3815356"/>
            <a:ext cx="3183758" cy="1189468"/>
          </a:xfrm>
          <a:prstGeom prst="rect">
            <a:avLst/>
          </a:prstGeom>
        </p:spPr>
        <p:txBody>
          <a:bodyPr anchor="t" rtlCol="false" tIns="0" lIns="0" bIns="0" rIns="0">
            <a:spAutoFit/>
          </a:bodyPr>
          <a:lstStyle/>
          <a:p>
            <a:pPr algn="ctr" marL="0" indent="0" lvl="0">
              <a:lnSpc>
                <a:spcPts val="4806"/>
              </a:lnSpc>
              <a:spcBef>
                <a:spcPct val="0"/>
              </a:spcBef>
            </a:pPr>
            <a:r>
              <a:rPr lang="en-US" b="true" sz="3433">
                <a:solidFill>
                  <a:srgbClr val="495B80"/>
                </a:solidFill>
                <a:latin typeface="Quicksand Bold"/>
                <a:ea typeface="Quicksand Bold"/>
                <a:cs typeface="Quicksand Bold"/>
                <a:sym typeface="Quicksand Bold"/>
              </a:rPr>
              <a:t>DATASET OVERVIEW</a:t>
            </a:r>
          </a:p>
        </p:txBody>
      </p:sp>
      <p:grpSp>
        <p:nvGrpSpPr>
          <p:cNvPr name="Group 27" id="27"/>
          <p:cNvGrpSpPr/>
          <p:nvPr/>
        </p:nvGrpSpPr>
        <p:grpSpPr>
          <a:xfrm rot="0">
            <a:off x="12589428" y="3785399"/>
            <a:ext cx="3371096" cy="1228710"/>
            <a:chOff x="0" y="0"/>
            <a:chExt cx="1103415" cy="402177"/>
          </a:xfrm>
        </p:grpSpPr>
        <p:sp>
          <p:nvSpPr>
            <p:cNvPr name="Freeform 28" id="28"/>
            <p:cNvSpPr/>
            <p:nvPr/>
          </p:nvSpPr>
          <p:spPr>
            <a:xfrm flipH="false" flipV="false" rot="0">
              <a:off x="0" y="0"/>
              <a:ext cx="1103415" cy="402177"/>
            </a:xfrm>
            <a:custGeom>
              <a:avLst/>
              <a:gdLst/>
              <a:ahLst/>
              <a:cxnLst/>
              <a:rect r="r" b="b" t="t" l="l"/>
              <a:pathLst>
                <a:path h="402177" w="1103415">
                  <a:moveTo>
                    <a:pt x="117125" y="0"/>
                  </a:moveTo>
                  <a:lnTo>
                    <a:pt x="986291" y="0"/>
                  </a:lnTo>
                  <a:cubicBezTo>
                    <a:pt x="1017354" y="0"/>
                    <a:pt x="1047145" y="12340"/>
                    <a:pt x="1069110" y="34305"/>
                  </a:cubicBezTo>
                  <a:cubicBezTo>
                    <a:pt x="1091076" y="56270"/>
                    <a:pt x="1103415" y="86061"/>
                    <a:pt x="1103415" y="117125"/>
                  </a:cubicBezTo>
                  <a:lnTo>
                    <a:pt x="1103415" y="285052"/>
                  </a:lnTo>
                  <a:cubicBezTo>
                    <a:pt x="1103415" y="349739"/>
                    <a:pt x="1050977" y="402177"/>
                    <a:pt x="986291" y="402177"/>
                  </a:cubicBezTo>
                  <a:lnTo>
                    <a:pt x="117125" y="402177"/>
                  </a:lnTo>
                  <a:cubicBezTo>
                    <a:pt x="86061" y="402177"/>
                    <a:pt x="56270" y="389837"/>
                    <a:pt x="34305" y="367872"/>
                  </a:cubicBezTo>
                  <a:cubicBezTo>
                    <a:pt x="12340" y="345907"/>
                    <a:pt x="0" y="316116"/>
                    <a:pt x="0" y="285052"/>
                  </a:cubicBezTo>
                  <a:lnTo>
                    <a:pt x="0" y="117125"/>
                  </a:lnTo>
                  <a:cubicBezTo>
                    <a:pt x="0" y="86061"/>
                    <a:pt x="12340" y="56270"/>
                    <a:pt x="34305" y="34305"/>
                  </a:cubicBezTo>
                  <a:cubicBezTo>
                    <a:pt x="56270" y="12340"/>
                    <a:pt x="86061" y="0"/>
                    <a:pt x="117125" y="0"/>
                  </a:cubicBezTo>
                  <a:close/>
                </a:path>
              </a:pathLst>
            </a:custGeom>
            <a:solidFill>
              <a:srgbClr val="C8E1EF"/>
            </a:solidFill>
            <a:ln w="38100" cap="rnd">
              <a:solidFill>
                <a:srgbClr val="000000"/>
              </a:solidFill>
              <a:prstDash val="solid"/>
              <a:round/>
            </a:ln>
          </p:spPr>
        </p:sp>
        <p:sp>
          <p:nvSpPr>
            <p:cNvPr name="TextBox 29" id="29"/>
            <p:cNvSpPr txBox="true"/>
            <p:nvPr/>
          </p:nvSpPr>
          <p:spPr>
            <a:xfrm>
              <a:off x="0" y="-38100"/>
              <a:ext cx="1103415" cy="440277"/>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2932328" y="3747299"/>
            <a:ext cx="2648931" cy="1198753"/>
          </a:xfrm>
          <a:prstGeom prst="rect">
            <a:avLst/>
          </a:prstGeom>
        </p:spPr>
        <p:txBody>
          <a:bodyPr anchor="t" rtlCol="false" tIns="0" lIns="0" bIns="0" rIns="0">
            <a:spAutoFit/>
          </a:bodyPr>
          <a:lstStyle/>
          <a:p>
            <a:pPr algn="ctr" marL="0" indent="0" lvl="0">
              <a:lnSpc>
                <a:spcPts val="4801"/>
              </a:lnSpc>
              <a:spcBef>
                <a:spcPct val="0"/>
              </a:spcBef>
            </a:pPr>
            <a:r>
              <a:rPr lang="en-US" b="true" sz="3429">
                <a:solidFill>
                  <a:srgbClr val="495B80"/>
                </a:solidFill>
                <a:latin typeface="Quicksand Bold"/>
                <a:ea typeface="Quicksand Bold"/>
                <a:cs typeface="Quicksand Bold"/>
                <a:sym typeface="Quicksand Bold"/>
              </a:rPr>
              <a:t>KEY OBJECTIVES</a:t>
            </a:r>
          </a:p>
        </p:txBody>
      </p:sp>
      <p:sp>
        <p:nvSpPr>
          <p:cNvPr name="TextBox 31" id="31"/>
          <p:cNvSpPr txBox="true"/>
          <p:nvPr/>
        </p:nvSpPr>
        <p:spPr>
          <a:xfrm rot="0">
            <a:off x="1913521" y="5086350"/>
            <a:ext cx="3945490" cy="3768282"/>
          </a:xfrm>
          <a:prstGeom prst="rect">
            <a:avLst/>
          </a:prstGeom>
        </p:spPr>
        <p:txBody>
          <a:bodyPr anchor="t" rtlCol="false" tIns="0" lIns="0" bIns="0" rIns="0">
            <a:spAutoFit/>
          </a:bodyPr>
          <a:lstStyle/>
          <a:p>
            <a:pPr algn="l" marL="516529" indent="-258265" lvl="1">
              <a:lnSpc>
                <a:spcPts val="3349"/>
              </a:lnSpc>
              <a:buFont typeface="Arial"/>
              <a:buChar char="•"/>
            </a:pPr>
            <a:r>
              <a:rPr lang="en-US" b="true" sz="2392">
                <a:solidFill>
                  <a:srgbClr val="FFFFFF"/>
                </a:solidFill>
                <a:latin typeface="Quicksand Bold"/>
                <a:ea typeface="Quicksand Bold"/>
                <a:cs typeface="Quicksand Bold"/>
                <a:sym typeface="Quicksand Bold"/>
              </a:rPr>
              <a:t>Automate the analysis of chest X-rays to support radiological diagnostics</a:t>
            </a:r>
          </a:p>
          <a:p>
            <a:pPr algn="l" marL="516529" indent="-258265" lvl="1">
              <a:lnSpc>
                <a:spcPts val="3349"/>
              </a:lnSpc>
              <a:buFont typeface="Arial"/>
              <a:buChar char="•"/>
            </a:pPr>
            <a:r>
              <a:rPr lang="en-US" b="true" sz="2392">
                <a:solidFill>
                  <a:srgbClr val="FFFFFF"/>
                </a:solidFill>
                <a:latin typeface="Quicksand Bold"/>
                <a:ea typeface="Quicksand Bold"/>
                <a:cs typeface="Quicksand Bold"/>
                <a:sym typeface="Quicksand Bold"/>
              </a:rPr>
              <a:t>Integrate both image classification and natural language report generation</a:t>
            </a:r>
          </a:p>
          <a:p>
            <a:pPr algn="l" marL="0" indent="0" lvl="0">
              <a:lnSpc>
                <a:spcPts val="3349"/>
              </a:lnSpc>
              <a:spcBef>
                <a:spcPct val="0"/>
              </a:spcBef>
            </a:pPr>
          </a:p>
        </p:txBody>
      </p:sp>
      <p:sp>
        <p:nvSpPr>
          <p:cNvPr name="TextBox 32" id="32"/>
          <p:cNvSpPr txBox="true"/>
          <p:nvPr/>
        </p:nvSpPr>
        <p:spPr>
          <a:xfrm rot="0">
            <a:off x="7037905" y="5298247"/>
            <a:ext cx="3577016" cy="2930082"/>
          </a:xfrm>
          <a:prstGeom prst="rect">
            <a:avLst/>
          </a:prstGeom>
        </p:spPr>
        <p:txBody>
          <a:bodyPr anchor="t" rtlCol="false" tIns="0" lIns="0" bIns="0" rIns="0">
            <a:spAutoFit/>
          </a:bodyPr>
          <a:lstStyle/>
          <a:p>
            <a:pPr algn="l" marL="516529" indent="-258265" lvl="1">
              <a:lnSpc>
                <a:spcPts val="3349"/>
              </a:lnSpc>
              <a:buFont typeface="Arial"/>
              <a:buChar char="•"/>
            </a:pPr>
            <a:r>
              <a:rPr lang="en-US" b="true" sz="2392">
                <a:solidFill>
                  <a:srgbClr val="FFFFFF"/>
                </a:solidFill>
                <a:latin typeface="Quicksand Bold"/>
                <a:ea typeface="Quicksand Bold"/>
                <a:cs typeface="Quicksand Bold"/>
                <a:sym typeface="Quicksand Bold"/>
              </a:rPr>
              <a:t>Utilizes the Indiana University Chest X-ray dataset</a:t>
            </a:r>
          </a:p>
          <a:p>
            <a:pPr algn="l" marL="516529" indent="-258265" lvl="1">
              <a:lnSpc>
                <a:spcPts val="3349"/>
              </a:lnSpc>
              <a:buFont typeface="Arial"/>
              <a:buChar char="•"/>
            </a:pPr>
            <a:r>
              <a:rPr lang="en-US" b="true" sz="2392">
                <a:solidFill>
                  <a:srgbClr val="FFFFFF"/>
                </a:solidFill>
                <a:latin typeface="Quicksand Bold"/>
                <a:ea typeface="Quicksand Bold"/>
                <a:cs typeface="Quicksand Bold"/>
                <a:sym typeface="Quicksand Bold"/>
              </a:rPr>
              <a:t>Contains paired frontal and lateral views along with textual reports</a:t>
            </a:r>
          </a:p>
        </p:txBody>
      </p:sp>
      <p:sp>
        <p:nvSpPr>
          <p:cNvPr name="TextBox 33" id="33"/>
          <p:cNvSpPr txBox="true"/>
          <p:nvPr/>
        </p:nvSpPr>
        <p:spPr>
          <a:xfrm rot="0">
            <a:off x="12247724" y="5032642"/>
            <a:ext cx="4047185" cy="3768282"/>
          </a:xfrm>
          <a:prstGeom prst="rect">
            <a:avLst/>
          </a:prstGeom>
        </p:spPr>
        <p:txBody>
          <a:bodyPr anchor="t" rtlCol="false" tIns="0" lIns="0" bIns="0" rIns="0">
            <a:spAutoFit/>
          </a:bodyPr>
          <a:lstStyle/>
          <a:p>
            <a:pPr algn="l" marL="516529" indent="-258265" lvl="1">
              <a:lnSpc>
                <a:spcPts val="3349"/>
              </a:lnSpc>
              <a:buFont typeface="Arial"/>
              <a:buChar char="•"/>
            </a:pPr>
            <a:r>
              <a:rPr lang="en-US" b="true" sz="2392">
                <a:solidFill>
                  <a:srgbClr val="FFFFFF"/>
                </a:solidFill>
                <a:latin typeface="Quicksand Bold"/>
                <a:ea typeface="Quicksand Bold"/>
                <a:cs typeface="Quicksand Bold"/>
                <a:sym typeface="Quicksand Bold"/>
              </a:rPr>
              <a:t>Data Cleaning</a:t>
            </a:r>
          </a:p>
          <a:p>
            <a:pPr algn="l" marL="516529" indent="-258265" lvl="1">
              <a:lnSpc>
                <a:spcPts val="3349"/>
              </a:lnSpc>
              <a:buFont typeface="Arial"/>
              <a:buChar char="•"/>
            </a:pPr>
            <a:r>
              <a:rPr lang="en-US" b="true" sz="2392">
                <a:solidFill>
                  <a:srgbClr val="FFFFFF"/>
                </a:solidFill>
                <a:latin typeface="Quicksand Bold"/>
                <a:ea typeface="Quicksand Bold"/>
                <a:cs typeface="Quicksand Bold"/>
                <a:sym typeface="Quicksand Bold"/>
              </a:rPr>
              <a:t>Feature extraction using ResNet50 </a:t>
            </a:r>
          </a:p>
          <a:p>
            <a:pPr algn="l" marL="516529" indent="-258265" lvl="1">
              <a:lnSpc>
                <a:spcPts val="3349"/>
              </a:lnSpc>
              <a:buFont typeface="Arial"/>
              <a:buChar char="•"/>
            </a:pPr>
            <a:r>
              <a:rPr lang="en-US" b="true" sz="2392">
                <a:solidFill>
                  <a:srgbClr val="FFFFFF"/>
                </a:solidFill>
                <a:latin typeface="Quicksand Bold"/>
                <a:ea typeface="Quicksand Bold"/>
                <a:cs typeface="Quicksand Bold"/>
                <a:sym typeface="Quicksand Bold"/>
              </a:rPr>
              <a:t>GPT-2/Custom transformer for caption generation</a:t>
            </a:r>
          </a:p>
          <a:p>
            <a:pPr algn="l" marL="516529" indent="-258265" lvl="1">
              <a:lnSpc>
                <a:spcPts val="3349"/>
              </a:lnSpc>
              <a:buFont typeface="Arial"/>
              <a:buChar char="•"/>
            </a:pPr>
            <a:r>
              <a:rPr lang="en-US" b="true" sz="2392">
                <a:solidFill>
                  <a:srgbClr val="FFFFFF"/>
                </a:solidFill>
                <a:latin typeface="Quicksand Bold"/>
                <a:ea typeface="Quicksand Bold"/>
                <a:cs typeface="Quicksand Bold"/>
                <a:sym typeface="Quicksand Bold"/>
              </a:rPr>
              <a:t>VAE approach for image reconstruction </a:t>
            </a:r>
          </a:p>
          <a:p>
            <a:pPr algn="l">
              <a:lnSpc>
                <a:spcPts val="334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1118587" y="5144146"/>
            <a:ext cx="6535506" cy="3190875"/>
          </a:xfrm>
          <a:prstGeom prst="rect">
            <a:avLst/>
          </a:prstGeom>
        </p:spPr>
        <p:txBody>
          <a:bodyPr anchor="t" rtlCol="false" tIns="0" lIns="0" bIns="0" rIns="0">
            <a:spAutoFit/>
          </a:bodyPr>
          <a:lstStyle/>
          <a:p>
            <a:pPr algn="l">
              <a:lnSpc>
                <a:spcPts val="4200"/>
              </a:lnSpc>
              <a:spcBef>
                <a:spcPct val="0"/>
              </a:spcBef>
            </a:pPr>
            <a:r>
              <a:rPr lang="en-US" sz="3000">
                <a:solidFill>
                  <a:srgbClr val="FFFFFF"/>
                </a:solidFill>
                <a:latin typeface="Quicksand"/>
                <a:ea typeface="Quicksand"/>
                <a:cs typeface="Quicksand"/>
                <a:sym typeface="Quicksand"/>
              </a:rPr>
              <a:t>The symptoms of cystic fibrosis include, persistent coughing, regular lung infections, reduced weight gain, changes to bowel movements, jaundice and the clubbing of finger tips or toes.</a:t>
            </a:r>
          </a:p>
        </p:txBody>
      </p:sp>
      <p:grpSp>
        <p:nvGrpSpPr>
          <p:cNvPr name="Group 4" id="4"/>
          <p:cNvGrpSpPr/>
          <p:nvPr/>
        </p:nvGrpSpPr>
        <p:grpSpPr>
          <a:xfrm rot="0">
            <a:off x="855459" y="1576889"/>
            <a:ext cx="8037197" cy="7681411"/>
            <a:chOff x="0" y="0"/>
            <a:chExt cx="2330088" cy="2226941"/>
          </a:xfrm>
        </p:grpSpPr>
        <p:sp>
          <p:nvSpPr>
            <p:cNvPr name="Freeform 5" id="5"/>
            <p:cNvSpPr/>
            <p:nvPr/>
          </p:nvSpPr>
          <p:spPr>
            <a:xfrm flipH="false" flipV="false" rot="0">
              <a:off x="0" y="0"/>
              <a:ext cx="2330088" cy="2226941"/>
            </a:xfrm>
            <a:custGeom>
              <a:avLst/>
              <a:gdLst/>
              <a:ahLst/>
              <a:cxnLst/>
              <a:rect r="r" b="b" t="t" l="l"/>
              <a:pathLst>
                <a:path h="2226941" w="2330088">
                  <a:moveTo>
                    <a:pt x="0" y="0"/>
                  </a:moveTo>
                  <a:lnTo>
                    <a:pt x="2330088" y="0"/>
                  </a:lnTo>
                  <a:lnTo>
                    <a:pt x="2330088" y="2226941"/>
                  </a:lnTo>
                  <a:lnTo>
                    <a:pt x="0" y="2226941"/>
                  </a:lnTo>
                  <a:close/>
                </a:path>
              </a:pathLst>
            </a:custGeom>
            <a:solidFill>
              <a:srgbClr val="495B80"/>
            </a:solidFill>
            <a:ln w="38100" cap="sq">
              <a:solidFill>
                <a:srgbClr val="000000"/>
              </a:solidFill>
              <a:prstDash val="solid"/>
              <a:miter/>
            </a:ln>
          </p:spPr>
        </p:sp>
        <p:sp>
          <p:nvSpPr>
            <p:cNvPr name="TextBox 6" id="6"/>
            <p:cNvSpPr txBox="true"/>
            <p:nvPr/>
          </p:nvSpPr>
          <p:spPr>
            <a:xfrm>
              <a:off x="0" y="-38100"/>
              <a:ext cx="2330088" cy="2265041"/>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2609887" y="809627"/>
            <a:ext cx="4130967" cy="1110195"/>
            <a:chOff x="0" y="0"/>
            <a:chExt cx="1352134" cy="363385"/>
          </a:xfrm>
        </p:grpSpPr>
        <p:sp>
          <p:nvSpPr>
            <p:cNvPr name="Freeform 8" id="8"/>
            <p:cNvSpPr/>
            <p:nvPr/>
          </p:nvSpPr>
          <p:spPr>
            <a:xfrm flipH="false" flipV="false" rot="0">
              <a:off x="0" y="0"/>
              <a:ext cx="1352134" cy="363385"/>
            </a:xfrm>
            <a:custGeom>
              <a:avLst/>
              <a:gdLst/>
              <a:ahLst/>
              <a:cxnLst/>
              <a:rect r="r" b="b" t="t" l="l"/>
              <a:pathLst>
                <a:path h="363385" w="1352134">
                  <a:moveTo>
                    <a:pt x="95580" y="0"/>
                  </a:moveTo>
                  <a:lnTo>
                    <a:pt x="1256554" y="0"/>
                  </a:lnTo>
                  <a:cubicBezTo>
                    <a:pt x="1309341" y="0"/>
                    <a:pt x="1352134" y="42793"/>
                    <a:pt x="1352134" y="95580"/>
                  </a:cubicBezTo>
                  <a:lnTo>
                    <a:pt x="1352134" y="267805"/>
                  </a:lnTo>
                  <a:cubicBezTo>
                    <a:pt x="1352134" y="320593"/>
                    <a:pt x="1309341" y="363385"/>
                    <a:pt x="1256554" y="363385"/>
                  </a:cubicBezTo>
                  <a:lnTo>
                    <a:pt x="95580" y="363385"/>
                  </a:lnTo>
                  <a:cubicBezTo>
                    <a:pt x="42793" y="363385"/>
                    <a:pt x="0" y="320593"/>
                    <a:pt x="0" y="267805"/>
                  </a:cubicBezTo>
                  <a:lnTo>
                    <a:pt x="0" y="95580"/>
                  </a:lnTo>
                  <a:cubicBezTo>
                    <a:pt x="0" y="42793"/>
                    <a:pt x="42793" y="0"/>
                    <a:pt x="95580" y="0"/>
                  </a:cubicBezTo>
                  <a:close/>
                </a:path>
              </a:pathLst>
            </a:custGeom>
            <a:solidFill>
              <a:srgbClr val="FD7B8B"/>
            </a:solidFill>
            <a:ln w="38100" cap="rnd">
              <a:solidFill>
                <a:srgbClr val="000000"/>
              </a:solidFill>
              <a:prstDash val="solid"/>
              <a:round/>
            </a:ln>
          </p:spPr>
        </p:sp>
        <p:sp>
          <p:nvSpPr>
            <p:cNvPr name="TextBox 9" id="9"/>
            <p:cNvSpPr txBox="true"/>
            <p:nvPr/>
          </p:nvSpPr>
          <p:spPr>
            <a:xfrm>
              <a:off x="0" y="-38100"/>
              <a:ext cx="1352134" cy="401485"/>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9317663" y="2843101"/>
            <a:ext cx="8304465" cy="6415199"/>
          </a:xfrm>
          <a:custGeom>
            <a:avLst/>
            <a:gdLst/>
            <a:ahLst/>
            <a:cxnLst/>
            <a:rect r="r" b="b" t="t" l="l"/>
            <a:pathLst>
              <a:path h="6415199" w="8304465">
                <a:moveTo>
                  <a:pt x="0" y="0"/>
                </a:moveTo>
                <a:lnTo>
                  <a:pt x="8304465" y="0"/>
                </a:lnTo>
                <a:lnTo>
                  <a:pt x="8304465" y="6415199"/>
                </a:lnTo>
                <a:lnTo>
                  <a:pt x="0" y="6415199"/>
                </a:lnTo>
                <a:lnTo>
                  <a:pt x="0" y="0"/>
                </a:lnTo>
                <a:close/>
              </a:path>
            </a:pathLst>
          </a:custGeom>
          <a:blipFill>
            <a:blip r:embed="rId3"/>
            <a:stretch>
              <a:fillRect l="0" t="0" r="0" b="0"/>
            </a:stretch>
          </a:blipFill>
        </p:spPr>
      </p:sp>
      <p:sp>
        <p:nvSpPr>
          <p:cNvPr name="Freeform 11" id="11"/>
          <p:cNvSpPr/>
          <p:nvPr/>
        </p:nvSpPr>
        <p:spPr>
          <a:xfrm flipH="false" flipV="false" rot="-6036274">
            <a:off x="10601695" y="-31490"/>
            <a:ext cx="1695500" cy="3216758"/>
          </a:xfrm>
          <a:custGeom>
            <a:avLst/>
            <a:gdLst/>
            <a:ahLst/>
            <a:cxnLst/>
            <a:rect r="r" b="b" t="t" l="l"/>
            <a:pathLst>
              <a:path h="3216758" w="1695500">
                <a:moveTo>
                  <a:pt x="0" y="0"/>
                </a:moveTo>
                <a:lnTo>
                  <a:pt x="1695499" y="0"/>
                </a:lnTo>
                <a:lnTo>
                  <a:pt x="1695499" y="3216758"/>
                </a:lnTo>
                <a:lnTo>
                  <a:pt x="0" y="3216758"/>
                </a:lnTo>
                <a:lnTo>
                  <a:pt x="0" y="0"/>
                </a:lnTo>
                <a:close/>
              </a:path>
            </a:pathLst>
          </a:custGeom>
          <a:blipFill>
            <a:blip r:embed="rId4">
              <a:alphaModFix amt="86000"/>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0388195" y="875471"/>
            <a:ext cx="7233933" cy="1834567"/>
          </a:xfrm>
          <a:prstGeom prst="rect">
            <a:avLst/>
          </a:prstGeom>
        </p:spPr>
        <p:txBody>
          <a:bodyPr anchor="t" rtlCol="false" tIns="0" lIns="0" bIns="0" rIns="0">
            <a:spAutoFit/>
          </a:bodyPr>
          <a:lstStyle/>
          <a:p>
            <a:pPr algn="r">
              <a:lnSpc>
                <a:spcPts val="7142"/>
              </a:lnSpc>
            </a:pPr>
            <a:r>
              <a:rPr lang="en-US" sz="6802">
                <a:solidFill>
                  <a:srgbClr val="495B80"/>
                </a:solidFill>
                <a:latin typeface="Sunborn"/>
                <a:ea typeface="Sunborn"/>
                <a:cs typeface="Sunborn"/>
                <a:sym typeface="Sunborn"/>
              </a:rPr>
              <a:t>DATASET CLEANING</a:t>
            </a:r>
          </a:p>
        </p:txBody>
      </p:sp>
      <p:sp>
        <p:nvSpPr>
          <p:cNvPr name="TextBox 13" id="13"/>
          <p:cNvSpPr txBox="true"/>
          <p:nvPr/>
        </p:nvSpPr>
        <p:spPr>
          <a:xfrm rot="0">
            <a:off x="2898917" y="945624"/>
            <a:ext cx="3552906" cy="762000"/>
          </a:xfrm>
          <a:prstGeom prst="rect">
            <a:avLst/>
          </a:prstGeom>
        </p:spPr>
        <p:txBody>
          <a:bodyPr anchor="t" rtlCol="false" tIns="0" lIns="0" bIns="0" rIns="0">
            <a:spAutoFit/>
          </a:bodyPr>
          <a:lstStyle/>
          <a:p>
            <a:pPr algn="ctr" marL="0" indent="0" lvl="0">
              <a:lnSpc>
                <a:spcPts val="6299"/>
              </a:lnSpc>
              <a:spcBef>
                <a:spcPct val="0"/>
              </a:spcBef>
            </a:pPr>
            <a:r>
              <a:rPr lang="en-US" b="true" sz="4500">
                <a:solidFill>
                  <a:srgbClr val="FFFFFF"/>
                </a:solidFill>
                <a:latin typeface="Quicksand Bold"/>
                <a:ea typeface="Quicksand Bold"/>
                <a:cs typeface="Quicksand Bold"/>
                <a:sym typeface="Quicksand Bold"/>
              </a:rPr>
              <a:t>STEPS</a:t>
            </a:r>
          </a:p>
        </p:txBody>
      </p:sp>
      <p:sp>
        <p:nvSpPr>
          <p:cNvPr name="TextBox 14" id="14"/>
          <p:cNvSpPr txBox="true"/>
          <p:nvPr/>
        </p:nvSpPr>
        <p:spPr>
          <a:xfrm rot="0">
            <a:off x="1118555" y="2019298"/>
            <a:ext cx="7510234" cy="7458075"/>
          </a:xfrm>
          <a:prstGeom prst="rect">
            <a:avLst/>
          </a:prstGeom>
        </p:spPr>
        <p:txBody>
          <a:bodyPr anchor="t" rtlCol="false" tIns="0" lIns="0" bIns="0" rIns="0">
            <a:spAutoFit/>
          </a:bodyPr>
          <a:lstStyle/>
          <a:p>
            <a:pPr algn="just" marL="647700" indent="-323850" lvl="1">
              <a:lnSpc>
                <a:spcPts val="4200"/>
              </a:lnSpc>
              <a:buFont typeface="Arial"/>
              <a:buChar char="•"/>
            </a:pPr>
            <a:r>
              <a:rPr lang="en-US" b="true" sz="3000">
                <a:solidFill>
                  <a:srgbClr val="FFFFFF"/>
                </a:solidFill>
                <a:latin typeface="Quicksand Bold"/>
                <a:ea typeface="Quicksand Bold"/>
                <a:cs typeface="Quicksand Bold"/>
                <a:sym typeface="Quicksand Bold"/>
              </a:rPr>
              <a:t>We discarded: </a:t>
            </a:r>
          </a:p>
          <a:p>
            <a:pPr algn="just" marL="1295400" indent="-431800" lvl="2">
              <a:lnSpc>
                <a:spcPts val="4200"/>
              </a:lnSpc>
              <a:buFont typeface="Arial"/>
              <a:buChar char="⚬"/>
            </a:pPr>
            <a:r>
              <a:rPr lang="en-US" sz="3000">
                <a:solidFill>
                  <a:srgbClr val="FFFFFF"/>
                </a:solidFill>
                <a:latin typeface="Quicksand"/>
                <a:ea typeface="Quicksand"/>
                <a:cs typeface="Quicksand"/>
                <a:sym typeface="Quicksand"/>
              </a:rPr>
              <a:t>records lacking essential report data such as captions or detailed problem information;</a:t>
            </a:r>
          </a:p>
          <a:p>
            <a:pPr algn="just" marL="1295400" indent="-431800" lvl="2">
              <a:lnSpc>
                <a:spcPts val="4200"/>
              </a:lnSpc>
              <a:buFont typeface="Arial"/>
              <a:buChar char="⚬"/>
            </a:pPr>
            <a:r>
              <a:rPr lang="en-US" sz="3000">
                <a:solidFill>
                  <a:srgbClr val="FFFFFF"/>
                </a:solidFill>
                <a:latin typeface="Quicksand"/>
                <a:ea typeface="Quicksand"/>
                <a:cs typeface="Quicksand"/>
                <a:sym typeface="Quicksand"/>
              </a:rPr>
              <a:t>records who don’t have exactly a front image and a lateral image;</a:t>
            </a:r>
          </a:p>
          <a:p>
            <a:pPr algn="just" marL="1295400" indent="-431800" lvl="2">
              <a:lnSpc>
                <a:spcPts val="4200"/>
              </a:lnSpc>
              <a:buFont typeface="Arial"/>
              <a:buChar char="⚬"/>
            </a:pPr>
            <a:r>
              <a:rPr lang="en-US" sz="3000">
                <a:solidFill>
                  <a:srgbClr val="FFFFFF"/>
                </a:solidFill>
                <a:latin typeface="Quicksand"/>
                <a:ea typeface="Quicksand"/>
                <a:cs typeface="Quicksand"/>
                <a:sym typeface="Quicksand"/>
              </a:rPr>
              <a:t>categories that appear less than THRESHOLD times.</a:t>
            </a:r>
          </a:p>
          <a:p>
            <a:pPr algn="just" marL="647700" indent="-323850" lvl="1">
              <a:lnSpc>
                <a:spcPts val="4200"/>
              </a:lnSpc>
              <a:buFont typeface="Arial"/>
              <a:buChar char="•"/>
            </a:pPr>
            <a:r>
              <a:rPr lang="en-US" sz="3000">
                <a:solidFill>
                  <a:srgbClr val="FFFFFF"/>
                </a:solidFill>
                <a:latin typeface="Quicksand"/>
                <a:ea typeface="Quicksand"/>
                <a:cs typeface="Quicksand"/>
                <a:sym typeface="Quicksand"/>
              </a:rPr>
              <a:t>For each patient with multiple problems, we selected only the first problem listed.</a:t>
            </a:r>
          </a:p>
          <a:p>
            <a:pPr algn="just" marL="647700" indent="-323850" lvl="1">
              <a:lnSpc>
                <a:spcPts val="4200"/>
              </a:lnSpc>
              <a:spcBef>
                <a:spcPct val="0"/>
              </a:spcBef>
              <a:buFont typeface="Arial"/>
              <a:buChar char="•"/>
            </a:pPr>
            <a:r>
              <a:rPr lang="en-US" sz="3000">
                <a:solidFill>
                  <a:srgbClr val="FFFFFF"/>
                </a:solidFill>
                <a:latin typeface="Quicksand"/>
                <a:ea typeface="Quicksand"/>
                <a:cs typeface="Quicksand"/>
                <a:sym typeface="Quicksand"/>
              </a:rPr>
              <a:t>We grouped similar problems in            macro-categories.</a:t>
            </a:r>
          </a:p>
          <a:p>
            <a:pPr algn="just">
              <a:lnSpc>
                <a:spcPts val="420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1160942" y="2332175"/>
            <a:ext cx="7362080" cy="6855937"/>
          </a:xfrm>
          <a:custGeom>
            <a:avLst/>
            <a:gdLst/>
            <a:ahLst/>
            <a:cxnLst/>
            <a:rect r="r" b="b" t="t" l="l"/>
            <a:pathLst>
              <a:path h="6855937" w="7362080">
                <a:moveTo>
                  <a:pt x="0" y="0"/>
                </a:moveTo>
                <a:lnTo>
                  <a:pt x="7362079" y="0"/>
                </a:lnTo>
                <a:lnTo>
                  <a:pt x="7362079" y="6855937"/>
                </a:lnTo>
                <a:lnTo>
                  <a:pt x="0" y="6855937"/>
                </a:lnTo>
                <a:lnTo>
                  <a:pt x="0" y="0"/>
                </a:lnTo>
                <a:close/>
              </a:path>
            </a:pathLst>
          </a:custGeom>
          <a:blipFill>
            <a:blip r:embed="rId3"/>
            <a:stretch>
              <a:fillRect l="0" t="0" r="0" b="0"/>
            </a:stretch>
          </a:blipFill>
        </p:spPr>
      </p:sp>
      <p:grpSp>
        <p:nvGrpSpPr>
          <p:cNvPr name="Group 4" id="4"/>
          <p:cNvGrpSpPr/>
          <p:nvPr/>
        </p:nvGrpSpPr>
        <p:grpSpPr>
          <a:xfrm rot="0">
            <a:off x="457610" y="1709464"/>
            <a:ext cx="11020848" cy="8495982"/>
            <a:chOff x="0" y="0"/>
            <a:chExt cx="3195087" cy="2463096"/>
          </a:xfrm>
        </p:grpSpPr>
        <p:sp>
          <p:nvSpPr>
            <p:cNvPr name="Freeform 5" id="5"/>
            <p:cNvSpPr/>
            <p:nvPr/>
          </p:nvSpPr>
          <p:spPr>
            <a:xfrm flipH="false" flipV="false" rot="0">
              <a:off x="0" y="0"/>
              <a:ext cx="3195088" cy="2463096"/>
            </a:xfrm>
            <a:custGeom>
              <a:avLst/>
              <a:gdLst/>
              <a:ahLst/>
              <a:cxnLst/>
              <a:rect r="r" b="b" t="t" l="l"/>
              <a:pathLst>
                <a:path h="2463096" w="3195088">
                  <a:moveTo>
                    <a:pt x="0" y="0"/>
                  </a:moveTo>
                  <a:lnTo>
                    <a:pt x="3195088" y="0"/>
                  </a:lnTo>
                  <a:lnTo>
                    <a:pt x="3195088" y="2463096"/>
                  </a:lnTo>
                  <a:lnTo>
                    <a:pt x="0" y="2463096"/>
                  </a:lnTo>
                  <a:close/>
                </a:path>
              </a:pathLst>
            </a:custGeom>
            <a:solidFill>
              <a:srgbClr val="495B80"/>
            </a:solidFill>
            <a:ln w="38100" cap="sq">
              <a:solidFill>
                <a:srgbClr val="000000"/>
              </a:solidFill>
              <a:prstDash val="solid"/>
              <a:miter/>
            </a:ln>
          </p:spPr>
        </p:sp>
        <p:sp>
          <p:nvSpPr>
            <p:cNvPr name="TextBox 6" id="6"/>
            <p:cNvSpPr txBox="true"/>
            <p:nvPr/>
          </p:nvSpPr>
          <p:spPr>
            <a:xfrm>
              <a:off x="0" y="-38100"/>
              <a:ext cx="3195087" cy="2501196"/>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4057447">
            <a:off x="-61257" y="-189836"/>
            <a:ext cx="1471158" cy="1467480"/>
          </a:xfrm>
          <a:custGeom>
            <a:avLst/>
            <a:gdLst/>
            <a:ahLst/>
            <a:cxnLst/>
            <a:rect r="r" b="b" t="t" l="l"/>
            <a:pathLst>
              <a:path h="1467480" w="1471158">
                <a:moveTo>
                  <a:pt x="0" y="0"/>
                </a:moveTo>
                <a:lnTo>
                  <a:pt x="1471159" y="0"/>
                </a:lnTo>
                <a:lnTo>
                  <a:pt x="1471159" y="1467480"/>
                </a:lnTo>
                <a:lnTo>
                  <a:pt x="0" y="1467480"/>
                </a:lnTo>
                <a:lnTo>
                  <a:pt x="0" y="0"/>
                </a:lnTo>
                <a:close/>
              </a:path>
            </a:pathLst>
          </a:custGeom>
          <a:blipFill>
            <a:blip r:embed="rId4"/>
            <a:stretch>
              <a:fillRect l="0" t="0" r="0" b="0"/>
            </a:stretch>
          </a:blipFill>
        </p:spPr>
      </p:sp>
      <p:grpSp>
        <p:nvGrpSpPr>
          <p:cNvPr name="Group 8" id="8"/>
          <p:cNvGrpSpPr/>
          <p:nvPr/>
        </p:nvGrpSpPr>
        <p:grpSpPr>
          <a:xfrm rot="0">
            <a:off x="703364" y="4286768"/>
            <a:ext cx="10630767" cy="4668480"/>
            <a:chOff x="0" y="0"/>
            <a:chExt cx="5251587" cy="2306224"/>
          </a:xfrm>
        </p:grpSpPr>
        <p:sp>
          <p:nvSpPr>
            <p:cNvPr name="Freeform 9" id="9"/>
            <p:cNvSpPr/>
            <p:nvPr/>
          </p:nvSpPr>
          <p:spPr>
            <a:xfrm flipH="false" flipV="false" rot="0">
              <a:off x="0" y="0"/>
              <a:ext cx="5251587" cy="2306224"/>
            </a:xfrm>
            <a:custGeom>
              <a:avLst/>
              <a:gdLst/>
              <a:ahLst/>
              <a:cxnLst/>
              <a:rect r="r" b="b" t="t" l="l"/>
              <a:pathLst>
                <a:path h="2306224" w="5251587">
                  <a:moveTo>
                    <a:pt x="0" y="0"/>
                  </a:moveTo>
                  <a:lnTo>
                    <a:pt x="5251587" y="0"/>
                  </a:lnTo>
                  <a:lnTo>
                    <a:pt x="5251587" y="2306224"/>
                  </a:lnTo>
                  <a:lnTo>
                    <a:pt x="0" y="2306224"/>
                  </a:lnTo>
                  <a:close/>
                </a:path>
              </a:pathLst>
            </a:custGeom>
            <a:solidFill>
              <a:srgbClr val="495B80"/>
            </a:solidFill>
            <a:ln cap="sq">
              <a:noFill/>
              <a:prstDash val="solid"/>
              <a:miter/>
            </a:ln>
          </p:spPr>
        </p:sp>
        <p:sp>
          <p:nvSpPr>
            <p:cNvPr name="TextBox 10" id="10"/>
            <p:cNvSpPr txBox="true"/>
            <p:nvPr/>
          </p:nvSpPr>
          <p:spPr>
            <a:xfrm>
              <a:off x="0" y="-38100"/>
              <a:ext cx="5251587" cy="2344324"/>
            </a:xfrm>
            <a:prstGeom prst="rect">
              <a:avLst/>
            </a:prstGeom>
          </p:spPr>
          <p:txBody>
            <a:bodyPr anchor="ctr" rtlCol="false" tIns="50800" lIns="50800" bIns="50800" rIns="50800"/>
            <a:lstStyle/>
            <a:p>
              <a:pPr algn="ctr">
                <a:lnSpc>
                  <a:spcPts val="2659"/>
                </a:lnSpc>
              </a:pPr>
            </a:p>
          </p:txBody>
        </p:sp>
      </p:grpSp>
      <p:graphicFrame>
        <p:nvGraphicFramePr>
          <p:cNvPr name="Table 11" id="11"/>
          <p:cNvGraphicFramePr>
            <a:graphicFrameLocks noGrp="true"/>
          </p:cNvGraphicFramePr>
          <p:nvPr/>
        </p:nvGraphicFramePr>
        <p:xfrm>
          <a:off x="900791" y="4747184"/>
          <a:ext cx="6021373" cy="594476"/>
        </p:xfrm>
        <a:graphic>
          <a:graphicData uri="http://schemas.openxmlformats.org/drawingml/2006/table">
            <a:tbl>
              <a:tblPr/>
              <a:tblGrid>
                <a:gridCol w="1125729"/>
                <a:gridCol w="1224344"/>
                <a:gridCol w="1614994"/>
                <a:gridCol w="1017583"/>
                <a:gridCol w="1038723"/>
              </a:tblGrid>
              <a:tr h="297238">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0</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1</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TOTAL ACCURACY</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BLEU-4</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ROUGE-L</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r>
              <a:tr h="297238">
                <a:tc>
                  <a:txBody>
                    <a:bodyPr anchor="t" rtlCol="false"/>
                    <a:lstStyle/>
                    <a:p>
                      <a:pPr algn="ctr">
                        <a:lnSpc>
                          <a:spcPts val="1725"/>
                        </a:lnSpc>
                        <a:defRPr/>
                      </a:pPr>
                      <a:r>
                        <a:rPr lang="en-US" sz="1232">
                          <a:solidFill>
                            <a:srgbClr val="FFFFFF"/>
                          </a:solidFill>
                          <a:latin typeface="Canva Sans"/>
                          <a:ea typeface="Canva Sans"/>
                          <a:cs typeface="Canva Sans"/>
                          <a:sym typeface="Canva Sans"/>
                        </a:rPr>
                        <a:t>61.46% </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68.33%</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65.75%</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0.0442</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0.2427</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r>
            </a:tbl>
          </a:graphicData>
        </a:graphic>
      </p:graphicFrame>
      <p:graphicFrame>
        <p:nvGraphicFramePr>
          <p:cNvPr name="Table 12" id="12"/>
          <p:cNvGraphicFramePr>
            <a:graphicFrameLocks noGrp="true"/>
          </p:cNvGraphicFramePr>
          <p:nvPr/>
        </p:nvGraphicFramePr>
        <p:xfrm>
          <a:off x="894732" y="6206065"/>
          <a:ext cx="6036273" cy="594476"/>
        </p:xfrm>
        <a:graphic>
          <a:graphicData uri="http://schemas.openxmlformats.org/drawingml/2006/table">
            <a:tbl>
              <a:tblPr/>
              <a:tblGrid>
                <a:gridCol w="935504"/>
                <a:gridCol w="1017455"/>
                <a:gridCol w="1017455"/>
                <a:gridCol w="1150365"/>
                <a:gridCol w="900390"/>
                <a:gridCol w="1015106"/>
              </a:tblGrid>
              <a:tr h="297238">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0</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1</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2</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TOTAL ACCURACY</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BLEU-4</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ROUGE-L</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r>
              <a:tr h="297238">
                <a:tc>
                  <a:txBody>
                    <a:bodyPr anchor="t" rtlCol="false"/>
                    <a:lstStyle/>
                    <a:p>
                      <a:pPr algn="ctr">
                        <a:lnSpc>
                          <a:spcPts val="1725"/>
                        </a:lnSpc>
                        <a:defRPr/>
                      </a:pPr>
                      <a:r>
                        <a:rPr lang="en-US" sz="1232">
                          <a:solidFill>
                            <a:srgbClr val="FFFFFF"/>
                          </a:solidFill>
                          <a:latin typeface="Canva Sans"/>
                          <a:ea typeface="Canva Sans"/>
                          <a:cs typeface="Canva Sans"/>
                          <a:sym typeface="Canva Sans"/>
                        </a:rPr>
                        <a:t>15.12%</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68.20%</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39.52%</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41.76%</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0.0436</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0.2564</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r>
            </a:tbl>
          </a:graphicData>
        </a:graphic>
      </p:graphicFrame>
      <p:graphicFrame>
        <p:nvGraphicFramePr>
          <p:cNvPr name="Table 13" id="13"/>
          <p:cNvGraphicFramePr>
            <a:graphicFrameLocks noGrp="true"/>
          </p:cNvGraphicFramePr>
          <p:nvPr/>
        </p:nvGraphicFramePr>
        <p:xfrm>
          <a:off x="900791" y="7664743"/>
          <a:ext cx="6021373" cy="594476"/>
        </p:xfrm>
        <a:graphic>
          <a:graphicData uri="http://schemas.openxmlformats.org/drawingml/2006/table">
            <a:tbl>
              <a:tblPr/>
              <a:tblGrid>
                <a:gridCol w="659775"/>
                <a:gridCol w="631030"/>
                <a:gridCol w="693996"/>
                <a:gridCol w="731231"/>
                <a:gridCol w="736552"/>
                <a:gridCol w="1061881"/>
                <a:gridCol w="720299"/>
                <a:gridCol w="786609"/>
              </a:tblGrid>
              <a:tr h="297238">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0</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1</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2</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3</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*CLASS 4</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TOTAL ACCURACY</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BLEU-4</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c>
                  <a:txBody>
                    <a:bodyPr anchor="t" rtlCol="false"/>
                    <a:lstStyle/>
                    <a:p>
                      <a:pPr algn="ctr">
                        <a:lnSpc>
                          <a:spcPts val="1725"/>
                        </a:lnSpc>
                        <a:defRPr/>
                      </a:pPr>
                      <a:r>
                        <a:rPr lang="en-US" sz="1232" b="true">
                          <a:solidFill>
                            <a:srgbClr val="495B80"/>
                          </a:solidFill>
                          <a:latin typeface="Canva Sans Bold"/>
                          <a:ea typeface="Canva Sans Bold"/>
                          <a:cs typeface="Canva Sans Bold"/>
                          <a:sym typeface="Canva Sans Bold"/>
                        </a:rPr>
                        <a:t>ROUGE-L</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solidFill>
                      <a:srgbClr val="C8E1EF"/>
                    </a:solidFill>
                  </a:tcPr>
                </a:tc>
              </a:tr>
              <a:tr h="297238">
                <a:tc>
                  <a:txBody>
                    <a:bodyPr anchor="t" rtlCol="false"/>
                    <a:lstStyle/>
                    <a:p>
                      <a:pPr algn="ctr">
                        <a:lnSpc>
                          <a:spcPts val="1725"/>
                        </a:lnSpc>
                        <a:defRPr/>
                      </a:pPr>
                      <a:r>
                        <a:rPr lang="en-US" sz="1232">
                          <a:solidFill>
                            <a:srgbClr val="FFFFFF"/>
                          </a:solidFill>
                          <a:latin typeface="Canva Sans"/>
                          <a:ea typeface="Canva Sans"/>
                          <a:cs typeface="Canva Sans"/>
                          <a:sym typeface="Canva Sans"/>
                        </a:rPr>
                        <a:t> 38.54%</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8.29%</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14.71%</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 41.30%</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34.09%</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24.91%</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0.0435</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c>
                  <a:txBody>
                    <a:bodyPr anchor="t" rtlCol="false"/>
                    <a:lstStyle/>
                    <a:p>
                      <a:pPr algn="ctr">
                        <a:lnSpc>
                          <a:spcPts val="1725"/>
                        </a:lnSpc>
                        <a:defRPr/>
                      </a:pPr>
                      <a:r>
                        <a:rPr lang="en-US" sz="1232">
                          <a:solidFill>
                            <a:srgbClr val="FFFFFF"/>
                          </a:solidFill>
                          <a:latin typeface="Canva Sans"/>
                          <a:ea typeface="Canva Sans"/>
                          <a:cs typeface="Canva Sans"/>
                          <a:sym typeface="Canva Sans"/>
                        </a:rPr>
                        <a:t>0.2517</a:t>
                      </a:r>
                      <a:endParaRPr lang="en-US" sz="1100"/>
                    </a:p>
                  </a:txBody>
                  <a:tcPr marL="111799" marR="111799" marT="111799" marB="111799" anchor="ctr">
                    <a:lnL cmpd="sng" algn="ctr" cap="flat" w="13122">
                      <a:solidFill>
                        <a:srgbClr val="FFFFFF"/>
                      </a:solidFill>
                      <a:prstDash val="solid"/>
                      <a:round/>
                      <a:headEnd type="none" w="med" len="med"/>
                      <a:tailEnd type="none" w="med" len="med"/>
                    </a:lnL>
                    <a:lnR cmpd="sng" algn="ctr" cap="flat" w="13122">
                      <a:solidFill>
                        <a:srgbClr val="FFFFFF"/>
                      </a:solidFill>
                      <a:prstDash val="solid"/>
                      <a:round/>
                      <a:headEnd type="none" w="med" len="med"/>
                      <a:tailEnd type="none" w="med" len="med"/>
                    </a:lnR>
                    <a:lnT cmpd="sng" algn="ctr" cap="flat" w="13122">
                      <a:solidFill>
                        <a:srgbClr val="FFFFFF"/>
                      </a:solidFill>
                      <a:prstDash val="solid"/>
                      <a:round/>
                      <a:headEnd type="none" w="med" len="med"/>
                      <a:tailEnd type="none" w="med" len="med"/>
                    </a:lnT>
                    <a:lnB cmpd="sng" algn="ctr" cap="flat" w="13122">
                      <a:solidFill>
                        <a:srgbClr val="FFFFFF"/>
                      </a:solidFill>
                      <a:prstDash val="solid"/>
                      <a:round/>
                      <a:headEnd type="none" w="med" len="med"/>
                      <a:tailEnd type="none" w="med" len="med"/>
                    </a:lnB>
                  </a:tcPr>
                </a:tc>
              </a:tr>
            </a:tbl>
          </a:graphicData>
        </a:graphic>
      </p:graphicFrame>
      <p:grpSp>
        <p:nvGrpSpPr>
          <p:cNvPr name="Group 14" id="14"/>
          <p:cNvGrpSpPr/>
          <p:nvPr/>
        </p:nvGrpSpPr>
        <p:grpSpPr>
          <a:xfrm rot="0">
            <a:off x="17117377" y="8031480"/>
            <a:ext cx="188595" cy="184785"/>
            <a:chOff x="0" y="0"/>
            <a:chExt cx="251460" cy="246380"/>
          </a:xfrm>
        </p:grpSpPr>
        <p:sp>
          <p:nvSpPr>
            <p:cNvPr name="Freeform 15" id="15"/>
            <p:cNvSpPr/>
            <p:nvPr/>
          </p:nvSpPr>
          <p:spPr>
            <a:xfrm flipH="false" flipV="false" rot="0">
              <a:off x="49530" y="49530"/>
              <a:ext cx="149860" cy="151130"/>
            </a:xfrm>
            <a:custGeom>
              <a:avLst/>
              <a:gdLst/>
              <a:ahLst/>
              <a:cxnLst/>
              <a:rect r="r" b="b" t="t" l="l"/>
              <a:pathLst>
                <a:path h="151130" w="149860">
                  <a:moveTo>
                    <a:pt x="149860" y="53340"/>
                  </a:moveTo>
                  <a:cubicBezTo>
                    <a:pt x="130810" y="133350"/>
                    <a:pt x="120650" y="140970"/>
                    <a:pt x="107950" y="144780"/>
                  </a:cubicBezTo>
                  <a:cubicBezTo>
                    <a:pt x="91440" y="151130"/>
                    <a:pt x="54610" y="148590"/>
                    <a:pt x="38100" y="140970"/>
                  </a:cubicBezTo>
                  <a:cubicBezTo>
                    <a:pt x="25400" y="135890"/>
                    <a:pt x="17780" y="125730"/>
                    <a:pt x="11430" y="115570"/>
                  </a:cubicBezTo>
                  <a:cubicBezTo>
                    <a:pt x="6350" y="105410"/>
                    <a:pt x="0" y="93980"/>
                    <a:pt x="1270" y="80010"/>
                  </a:cubicBezTo>
                  <a:cubicBezTo>
                    <a:pt x="2540" y="62230"/>
                    <a:pt x="17780" y="29210"/>
                    <a:pt x="30480" y="15240"/>
                  </a:cubicBezTo>
                  <a:cubicBezTo>
                    <a:pt x="39370" y="6350"/>
                    <a:pt x="50800" y="1270"/>
                    <a:pt x="63500" y="1270"/>
                  </a:cubicBezTo>
                  <a:cubicBezTo>
                    <a:pt x="82550" y="0"/>
                    <a:pt x="130810" y="21590"/>
                    <a:pt x="130810" y="21590"/>
                  </a:cubicBezTo>
                </a:path>
              </a:pathLst>
            </a:custGeom>
            <a:solidFill>
              <a:srgbClr val="C8E1EF"/>
            </a:solidFill>
            <a:ln cap="sq">
              <a:noFill/>
              <a:prstDash val="solid"/>
              <a:miter/>
            </a:ln>
          </p:spPr>
        </p:sp>
      </p:grpSp>
      <p:sp>
        <p:nvSpPr>
          <p:cNvPr name="TextBox 16" id="16"/>
          <p:cNvSpPr txBox="true"/>
          <p:nvPr/>
        </p:nvSpPr>
        <p:spPr>
          <a:xfrm rot="0">
            <a:off x="426378" y="553402"/>
            <a:ext cx="11052080" cy="1074421"/>
          </a:xfrm>
          <a:prstGeom prst="rect">
            <a:avLst/>
          </a:prstGeom>
        </p:spPr>
        <p:txBody>
          <a:bodyPr anchor="t" rtlCol="false" tIns="0" lIns="0" bIns="0" rIns="0">
            <a:spAutoFit/>
          </a:bodyPr>
          <a:lstStyle/>
          <a:p>
            <a:pPr algn="l">
              <a:lnSpc>
                <a:spcPts val="8295"/>
              </a:lnSpc>
            </a:pPr>
            <a:r>
              <a:rPr lang="en-US" sz="7900">
                <a:solidFill>
                  <a:srgbClr val="495B80"/>
                </a:solidFill>
                <a:latin typeface="Sunborn"/>
                <a:ea typeface="Sunborn"/>
                <a:cs typeface="Sunborn"/>
                <a:sym typeface="Sunborn"/>
              </a:rPr>
              <a:t>TRIAL ARCHITECTURE</a:t>
            </a:r>
          </a:p>
        </p:txBody>
      </p:sp>
      <p:sp>
        <p:nvSpPr>
          <p:cNvPr name="TextBox 17" id="17"/>
          <p:cNvSpPr txBox="true"/>
          <p:nvPr/>
        </p:nvSpPr>
        <p:spPr>
          <a:xfrm rot="0">
            <a:off x="732050" y="1862495"/>
            <a:ext cx="10471967" cy="261302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Quicksand"/>
                <a:ea typeface="Quicksand"/>
                <a:cs typeface="Quicksand"/>
                <a:sym typeface="Quicksand"/>
              </a:rPr>
              <a:t>We initially experimented with a unified architecture that leveraged the losses from all three branches simultaneously to enhance model training. However, despite optimizations such as Focal Loss and a Learning Rate Scheduler, adapting the latent space to accommodate the needs of all three models led to a significant decline in text prediction performance and disease classification accuracy.</a:t>
            </a:r>
          </a:p>
        </p:txBody>
      </p:sp>
      <p:sp>
        <p:nvSpPr>
          <p:cNvPr name="TextBox 18" id="18"/>
          <p:cNvSpPr txBox="true"/>
          <p:nvPr/>
        </p:nvSpPr>
        <p:spPr>
          <a:xfrm rot="0">
            <a:off x="618535" y="4486749"/>
            <a:ext cx="3516006" cy="263415"/>
          </a:xfrm>
          <a:prstGeom prst="rect">
            <a:avLst/>
          </a:prstGeom>
        </p:spPr>
        <p:txBody>
          <a:bodyPr anchor="t" rtlCol="false" tIns="0" lIns="0" bIns="0" rIns="0">
            <a:spAutoFit/>
          </a:bodyPr>
          <a:lstStyle/>
          <a:p>
            <a:pPr algn="ctr">
              <a:lnSpc>
                <a:spcPts val="2063"/>
              </a:lnSpc>
            </a:pPr>
            <a:r>
              <a:rPr lang="en-US" sz="1794">
                <a:solidFill>
                  <a:srgbClr val="FFFFFF"/>
                </a:solidFill>
                <a:latin typeface="Sunborn"/>
                <a:ea typeface="Sunborn"/>
                <a:cs typeface="Sunborn"/>
                <a:sym typeface="Sunborn"/>
              </a:rPr>
              <a:t>BINARY CLASSIFICATION</a:t>
            </a:r>
          </a:p>
        </p:txBody>
      </p:sp>
      <p:sp>
        <p:nvSpPr>
          <p:cNvPr name="TextBox 19" id="19"/>
          <p:cNvSpPr txBox="true"/>
          <p:nvPr/>
        </p:nvSpPr>
        <p:spPr>
          <a:xfrm rot="0">
            <a:off x="739422" y="5945630"/>
            <a:ext cx="3516006" cy="263415"/>
          </a:xfrm>
          <a:prstGeom prst="rect">
            <a:avLst/>
          </a:prstGeom>
        </p:spPr>
        <p:txBody>
          <a:bodyPr anchor="t" rtlCol="false" tIns="0" lIns="0" bIns="0" rIns="0">
            <a:spAutoFit/>
          </a:bodyPr>
          <a:lstStyle/>
          <a:p>
            <a:pPr algn="ctr">
              <a:lnSpc>
                <a:spcPts val="2063"/>
              </a:lnSpc>
            </a:pPr>
            <a:r>
              <a:rPr lang="en-US" sz="1794">
                <a:solidFill>
                  <a:srgbClr val="FFFFFF"/>
                </a:solidFill>
                <a:latin typeface="Sunborn"/>
                <a:ea typeface="Sunborn"/>
                <a:cs typeface="Sunborn"/>
                <a:sym typeface="Sunborn"/>
              </a:rPr>
              <a:t>TERNARY CLASSIFICATION</a:t>
            </a:r>
          </a:p>
        </p:txBody>
      </p:sp>
      <p:sp>
        <p:nvSpPr>
          <p:cNvPr name="TextBox 20" id="20"/>
          <p:cNvSpPr txBox="true"/>
          <p:nvPr/>
        </p:nvSpPr>
        <p:spPr>
          <a:xfrm rot="0">
            <a:off x="556146" y="7403636"/>
            <a:ext cx="4246112" cy="263415"/>
          </a:xfrm>
          <a:prstGeom prst="rect">
            <a:avLst/>
          </a:prstGeom>
        </p:spPr>
        <p:txBody>
          <a:bodyPr anchor="t" rtlCol="false" tIns="0" lIns="0" bIns="0" rIns="0">
            <a:spAutoFit/>
          </a:bodyPr>
          <a:lstStyle/>
          <a:p>
            <a:pPr algn="ctr">
              <a:lnSpc>
                <a:spcPts val="2063"/>
              </a:lnSpc>
            </a:pPr>
            <a:r>
              <a:rPr lang="en-US" sz="1794">
                <a:solidFill>
                  <a:srgbClr val="FFFFFF"/>
                </a:solidFill>
                <a:latin typeface="Sunborn"/>
                <a:ea typeface="Sunborn"/>
                <a:cs typeface="Sunborn"/>
                <a:sym typeface="Sunborn"/>
              </a:rPr>
              <a:t>MULTICLASS CLASSIFICATION</a:t>
            </a:r>
          </a:p>
        </p:txBody>
      </p:sp>
      <p:sp>
        <p:nvSpPr>
          <p:cNvPr name="TextBox 21" id="21"/>
          <p:cNvSpPr txBox="true"/>
          <p:nvPr/>
        </p:nvSpPr>
        <p:spPr>
          <a:xfrm rot="0">
            <a:off x="10059428" y="4510981"/>
            <a:ext cx="1332272" cy="186375"/>
          </a:xfrm>
          <a:prstGeom prst="rect">
            <a:avLst/>
          </a:prstGeom>
        </p:spPr>
        <p:txBody>
          <a:bodyPr anchor="t" rtlCol="false" tIns="0" lIns="0" bIns="0" rIns="0">
            <a:spAutoFit/>
          </a:bodyPr>
          <a:lstStyle/>
          <a:p>
            <a:pPr algn="ctr">
              <a:lnSpc>
                <a:spcPts val="1561"/>
              </a:lnSpc>
              <a:spcBef>
                <a:spcPct val="0"/>
              </a:spcBef>
            </a:pPr>
            <a:r>
              <a:rPr lang="en-US" sz="1115">
                <a:solidFill>
                  <a:srgbClr val="FFFFFF"/>
                </a:solidFill>
                <a:latin typeface="Canva Sans"/>
                <a:ea typeface="Canva Sans"/>
                <a:cs typeface="Canva Sans"/>
                <a:sym typeface="Canva Sans"/>
              </a:rPr>
              <a:t> *    =    ACCURACY</a:t>
            </a:r>
          </a:p>
        </p:txBody>
      </p:sp>
      <p:sp>
        <p:nvSpPr>
          <p:cNvPr name="TextBox 22" id="22"/>
          <p:cNvSpPr txBox="true"/>
          <p:nvPr/>
        </p:nvSpPr>
        <p:spPr>
          <a:xfrm rot="0">
            <a:off x="739422" y="8706278"/>
            <a:ext cx="13505797" cy="1635759"/>
          </a:xfrm>
          <a:prstGeom prst="rect">
            <a:avLst/>
          </a:prstGeom>
        </p:spPr>
        <p:txBody>
          <a:bodyPr anchor="t" rtlCol="false" tIns="0" lIns="0" bIns="0" rIns="0">
            <a:spAutoFit/>
          </a:bodyPr>
          <a:lstStyle/>
          <a:p>
            <a:pPr algn="just">
              <a:lnSpc>
                <a:spcPts val="2240"/>
              </a:lnSpc>
            </a:pPr>
            <a:r>
              <a:rPr lang="en-US" sz="1600" b="true">
                <a:solidFill>
                  <a:srgbClr val="FFFFFF"/>
                </a:solidFill>
                <a:latin typeface="Quicksand Bold"/>
                <a:ea typeface="Quicksand Bold"/>
                <a:cs typeface="Quicksand Bold"/>
                <a:sym typeface="Quicksand Bold"/>
              </a:rPr>
              <a:t>True Caption:</a:t>
            </a:r>
          </a:p>
          <a:p>
            <a:pPr algn="just">
              <a:lnSpc>
                <a:spcPts val="2240"/>
              </a:lnSpc>
            </a:pPr>
            <a:r>
              <a:rPr lang="en-US" sz="1600">
                <a:solidFill>
                  <a:srgbClr val="FFFFFF"/>
                </a:solidFill>
                <a:latin typeface="Quicksand"/>
                <a:ea typeface="Quicksand"/>
                <a:cs typeface="Quicksand"/>
                <a:sym typeface="Quicksand"/>
              </a:rPr>
              <a:t>      </a:t>
            </a:r>
            <a:r>
              <a:rPr lang="en-US" sz="1600">
                <a:solidFill>
                  <a:srgbClr val="FFFFFF"/>
                </a:solidFill>
                <a:latin typeface="Quicksand"/>
                <a:ea typeface="Quicksand"/>
                <a:cs typeface="Quicksand"/>
                <a:sym typeface="Quicksand"/>
              </a:rPr>
              <a:t>The cardiac contours are normal. The lungs are clear. Thoracic spondylosis.</a:t>
            </a:r>
          </a:p>
          <a:p>
            <a:pPr algn="just">
              <a:lnSpc>
                <a:spcPts val="2240"/>
              </a:lnSpc>
            </a:pPr>
            <a:r>
              <a:rPr lang="en-US" sz="1600" b="true">
                <a:solidFill>
                  <a:srgbClr val="FFFFFF"/>
                </a:solidFill>
                <a:latin typeface="Quicksand Bold"/>
                <a:ea typeface="Quicksand Bold"/>
                <a:cs typeface="Quicksand Bold"/>
                <a:sym typeface="Quicksand Bold"/>
              </a:rPr>
              <a:t>Pred Caption (Model Output):</a:t>
            </a:r>
          </a:p>
          <a:p>
            <a:pPr algn="just">
              <a:lnSpc>
                <a:spcPts val="2240"/>
              </a:lnSpc>
            </a:pPr>
            <a:r>
              <a:rPr lang="en-US" sz="1600">
                <a:solidFill>
                  <a:srgbClr val="FFFFFF"/>
                </a:solidFill>
                <a:latin typeface="Quicksand"/>
                <a:ea typeface="Quicksand"/>
                <a:cs typeface="Quicksand"/>
                <a:sym typeface="Quicksand"/>
              </a:rPr>
              <a:t>      </a:t>
            </a:r>
            <a:r>
              <a:rPr lang="en-US" sz="1600">
                <a:solidFill>
                  <a:srgbClr val="FFFFFF"/>
                </a:solidFill>
                <a:latin typeface="Quicksand"/>
                <a:ea typeface="Quicksand"/>
                <a:cs typeface="Quicksand"/>
                <a:sym typeface="Quicksand"/>
              </a:rPr>
              <a:t>The heart and lungs have XXXX XXXX in the interval. Both lungs are clear and expanded. </a:t>
            </a:r>
          </a:p>
          <a:p>
            <a:pPr algn="just">
              <a:lnSpc>
                <a:spcPts val="2240"/>
              </a:lnSpc>
            </a:pPr>
            <a:r>
              <a:rPr lang="en-US" sz="1600">
                <a:solidFill>
                  <a:srgbClr val="FFFFFF"/>
                </a:solidFill>
                <a:latin typeface="Quicksand"/>
                <a:ea typeface="Quicksand"/>
                <a:cs typeface="Quicksand"/>
                <a:sym typeface="Quicksand"/>
              </a:rPr>
              <a:t>      No pleural air collections. Heart and mediastinum normal.</a:t>
            </a:r>
          </a:p>
          <a:p>
            <a:pPr algn="just">
              <a:lnSpc>
                <a:spcPts val="224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457610" y="1709464"/>
            <a:ext cx="10986843" cy="8336246"/>
            <a:chOff x="0" y="0"/>
            <a:chExt cx="3185229" cy="2416786"/>
          </a:xfrm>
        </p:grpSpPr>
        <p:sp>
          <p:nvSpPr>
            <p:cNvPr name="Freeform 4" id="4"/>
            <p:cNvSpPr/>
            <p:nvPr/>
          </p:nvSpPr>
          <p:spPr>
            <a:xfrm flipH="false" flipV="false" rot="0">
              <a:off x="0" y="0"/>
              <a:ext cx="3185229" cy="2416786"/>
            </a:xfrm>
            <a:custGeom>
              <a:avLst/>
              <a:gdLst/>
              <a:ahLst/>
              <a:cxnLst/>
              <a:rect r="r" b="b" t="t" l="l"/>
              <a:pathLst>
                <a:path h="2416786" w="3185229">
                  <a:moveTo>
                    <a:pt x="0" y="0"/>
                  </a:moveTo>
                  <a:lnTo>
                    <a:pt x="3185229" y="0"/>
                  </a:lnTo>
                  <a:lnTo>
                    <a:pt x="3185229" y="2416786"/>
                  </a:lnTo>
                  <a:lnTo>
                    <a:pt x="0" y="2416786"/>
                  </a:lnTo>
                  <a:close/>
                </a:path>
              </a:pathLst>
            </a:custGeom>
            <a:solidFill>
              <a:srgbClr val="495B80"/>
            </a:solidFill>
            <a:ln w="38100" cap="sq">
              <a:solidFill>
                <a:srgbClr val="000000"/>
              </a:solidFill>
              <a:prstDash val="solid"/>
              <a:miter/>
            </a:ln>
          </p:spPr>
        </p:sp>
        <p:sp>
          <p:nvSpPr>
            <p:cNvPr name="TextBox 5" id="5"/>
            <p:cNvSpPr txBox="true"/>
            <p:nvPr/>
          </p:nvSpPr>
          <p:spPr>
            <a:xfrm>
              <a:off x="0" y="-38100"/>
              <a:ext cx="3185229" cy="245488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4057447">
            <a:off x="-61257" y="-189836"/>
            <a:ext cx="1471158" cy="1467480"/>
          </a:xfrm>
          <a:custGeom>
            <a:avLst/>
            <a:gdLst/>
            <a:ahLst/>
            <a:cxnLst/>
            <a:rect r="r" b="b" t="t" l="l"/>
            <a:pathLst>
              <a:path h="1467480" w="1471158">
                <a:moveTo>
                  <a:pt x="0" y="0"/>
                </a:moveTo>
                <a:lnTo>
                  <a:pt x="1471159" y="0"/>
                </a:lnTo>
                <a:lnTo>
                  <a:pt x="1471159" y="1467480"/>
                </a:lnTo>
                <a:lnTo>
                  <a:pt x="0" y="1467480"/>
                </a:lnTo>
                <a:lnTo>
                  <a:pt x="0" y="0"/>
                </a:lnTo>
                <a:close/>
              </a:path>
            </a:pathLst>
          </a:custGeom>
          <a:blipFill>
            <a:blip r:embed="rId3"/>
            <a:stretch>
              <a:fillRect l="0" t="0" r="0" b="0"/>
            </a:stretch>
          </a:blipFill>
        </p:spPr>
      </p:sp>
      <p:graphicFrame>
        <p:nvGraphicFramePr>
          <p:cNvPr name="Table 7" id="7"/>
          <p:cNvGraphicFramePr>
            <a:graphicFrameLocks noGrp="true"/>
          </p:cNvGraphicFramePr>
          <p:nvPr/>
        </p:nvGraphicFramePr>
        <p:xfrm>
          <a:off x="799420" y="4819889"/>
          <a:ext cx="5735499" cy="549067"/>
        </p:xfrm>
        <a:graphic>
          <a:graphicData uri="http://schemas.openxmlformats.org/drawingml/2006/table">
            <a:tbl>
              <a:tblPr/>
              <a:tblGrid>
                <a:gridCol w="1072283"/>
                <a:gridCol w="1166216"/>
                <a:gridCol w="1538319"/>
                <a:gridCol w="969272"/>
                <a:gridCol w="989408"/>
              </a:tblGrid>
              <a:tr h="274533">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0</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1</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TOTAL ACCURACY</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BLEU-4</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ROUGE-L</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r>
              <a:tr h="274533">
                <a:tc>
                  <a:txBody>
                    <a:bodyPr anchor="t" rtlCol="false"/>
                    <a:lstStyle/>
                    <a:p>
                      <a:pPr algn="ctr">
                        <a:lnSpc>
                          <a:spcPts val="1657"/>
                        </a:lnSpc>
                        <a:defRPr/>
                      </a:pPr>
                      <a:r>
                        <a:rPr lang="en-US" sz="1183">
                          <a:solidFill>
                            <a:srgbClr val="FFFFFF"/>
                          </a:solidFill>
                          <a:latin typeface="Canva Sans"/>
                          <a:ea typeface="Canva Sans"/>
                          <a:cs typeface="Canva Sans"/>
                          <a:sym typeface="Canva Sans"/>
                        </a:rPr>
                        <a:t>74.63% </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67.45%</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70.73%</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0.2067</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0.2375</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r>
            </a:tbl>
          </a:graphicData>
        </a:graphic>
      </p:graphicFrame>
      <p:graphicFrame>
        <p:nvGraphicFramePr>
          <p:cNvPr name="Table 8" id="8"/>
          <p:cNvGraphicFramePr>
            <a:graphicFrameLocks noGrp="true"/>
          </p:cNvGraphicFramePr>
          <p:nvPr/>
        </p:nvGraphicFramePr>
        <p:xfrm>
          <a:off x="793410" y="6221035"/>
          <a:ext cx="5749691" cy="549021"/>
        </p:xfrm>
        <a:graphic>
          <a:graphicData uri="http://schemas.openxmlformats.org/drawingml/2006/table">
            <a:tbl>
              <a:tblPr/>
              <a:tblGrid>
                <a:gridCol w="891089"/>
                <a:gridCol w="969149"/>
                <a:gridCol w="969149"/>
                <a:gridCol w="1095749"/>
                <a:gridCol w="857642"/>
                <a:gridCol w="966912"/>
              </a:tblGrid>
              <a:tr h="274534">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0</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1</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2</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TOTAL ACCURACY</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BLEU-4</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ROUGE-L</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r>
              <a:tr h="274487">
                <a:tc>
                  <a:txBody>
                    <a:bodyPr anchor="t" rtlCol="false"/>
                    <a:lstStyle/>
                    <a:p>
                      <a:pPr algn="ctr">
                        <a:lnSpc>
                          <a:spcPts val="1657"/>
                        </a:lnSpc>
                        <a:defRPr/>
                      </a:pPr>
                      <a:r>
                        <a:rPr lang="en-US" sz="1183">
                          <a:solidFill>
                            <a:srgbClr val="FFFFFF"/>
                          </a:solidFill>
                          <a:latin typeface="Canva Sans"/>
                          <a:ea typeface="Canva Sans"/>
                          <a:cs typeface="Canva Sans"/>
                          <a:sym typeface="Canva Sans"/>
                        </a:rPr>
                        <a:t>49.27%</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58.53%</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37.90%</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50.37%</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0.2352 </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0.2410</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r>
            </a:tbl>
          </a:graphicData>
        </a:graphic>
      </p:graphicFrame>
      <p:graphicFrame>
        <p:nvGraphicFramePr>
          <p:cNvPr name="Table 9" id="9"/>
          <p:cNvGraphicFramePr>
            <a:graphicFrameLocks noGrp="true"/>
          </p:cNvGraphicFramePr>
          <p:nvPr/>
        </p:nvGraphicFramePr>
        <p:xfrm>
          <a:off x="799420" y="7621986"/>
          <a:ext cx="5735499" cy="549021"/>
        </p:xfrm>
        <a:graphic>
          <a:graphicData uri="http://schemas.openxmlformats.org/drawingml/2006/table">
            <a:tbl>
              <a:tblPr/>
              <a:tblGrid>
                <a:gridCol w="628451"/>
                <a:gridCol w="601071"/>
                <a:gridCol w="661048"/>
                <a:gridCol w="696514"/>
                <a:gridCol w="701583"/>
                <a:gridCol w="1011466"/>
                <a:gridCol w="686102"/>
                <a:gridCol w="749263"/>
              </a:tblGrid>
              <a:tr h="274534">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0</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1</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2</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3</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*CLASS 4</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TOTAL ACCURACY</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BLEU-4</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c>
                  <a:txBody>
                    <a:bodyPr anchor="t" rtlCol="false"/>
                    <a:lstStyle/>
                    <a:p>
                      <a:pPr algn="ctr">
                        <a:lnSpc>
                          <a:spcPts val="1657"/>
                        </a:lnSpc>
                        <a:defRPr/>
                      </a:pPr>
                      <a:r>
                        <a:rPr lang="en-US" sz="1183" b="true">
                          <a:solidFill>
                            <a:srgbClr val="495B80"/>
                          </a:solidFill>
                          <a:latin typeface="Canva Sans Bold"/>
                          <a:ea typeface="Canva Sans Bold"/>
                          <a:cs typeface="Canva Sans Bold"/>
                          <a:sym typeface="Canva Sans Bold"/>
                        </a:rPr>
                        <a:t>ROUGE-L</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solidFill>
                      <a:srgbClr val="C8E1EF"/>
                    </a:solidFill>
                  </a:tcPr>
                </a:tc>
              </a:tr>
              <a:tr h="274487">
                <a:tc>
                  <a:txBody>
                    <a:bodyPr anchor="t" rtlCol="false"/>
                    <a:lstStyle/>
                    <a:p>
                      <a:pPr algn="ctr">
                        <a:lnSpc>
                          <a:spcPts val="1657"/>
                        </a:lnSpc>
                        <a:defRPr/>
                      </a:pPr>
                      <a:r>
                        <a:rPr lang="en-US" sz="1183">
                          <a:solidFill>
                            <a:srgbClr val="FFFFFF"/>
                          </a:solidFill>
                          <a:latin typeface="Canva Sans"/>
                          <a:ea typeface="Canva Sans"/>
                          <a:cs typeface="Canva Sans"/>
                          <a:sym typeface="Canva Sans"/>
                        </a:rPr>
                        <a:t> 83.90%</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3.19%</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64.38%</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 12.20%</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13.53%</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44.87%</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0.1606</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c>
                  <a:txBody>
                    <a:bodyPr anchor="t" rtlCol="false"/>
                    <a:lstStyle/>
                    <a:p>
                      <a:pPr algn="ctr">
                        <a:lnSpc>
                          <a:spcPts val="1657"/>
                        </a:lnSpc>
                        <a:defRPr/>
                      </a:pPr>
                      <a:r>
                        <a:rPr lang="en-US" sz="1183">
                          <a:solidFill>
                            <a:srgbClr val="FFFFFF"/>
                          </a:solidFill>
                          <a:latin typeface="Canva Sans"/>
                          <a:ea typeface="Canva Sans"/>
                          <a:cs typeface="Canva Sans"/>
                          <a:sym typeface="Canva Sans"/>
                        </a:rPr>
                        <a:t>0.2334</a:t>
                      </a:r>
                      <a:endParaRPr lang="en-US" sz="1100"/>
                    </a:p>
                  </a:txBody>
                  <a:tcPr marL="107374" marR="107374" marT="107374" marB="107374" anchor="ctr">
                    <a:lnL cmpd="sng" algn="ctr" cap="flat" w="12104">
                      <a:solidFill>
                        <a:srgbClr val="FFFFFF"/>
                      </a:solidFill>
                      <a:prstDash val="solid"/>
                      <a:round/>
                      <a:headEnd type="none" w="med" len="med"/>
                      <a:tailEnd type="none" w="med" len="med"/>
                    </a:lnL>
                    <a:lnR cmpd="sng" algn="ctr" cap="flat" w="12104">
                      <a:solidFill>
                        <a:srgbClr val="FFFFFF"/>
                      </a:solidFill>
                      <a:prstDash val="solid"/>
                      <a:round/>
                      <a:headEnd type="none" w="med" len="med"/>
                      <a:tailEnd type="none" w="med" len="med"/>
                    </a:lnR>
                    <a:lnT cmpd="sng" algn="ctr" cap="flat" w="12104">
                      <a:solidFill>
                        <a:srgbClr val="FFFFFF"/>
                      </a:solidFill>
                      <a:prstDash val="solid"/>
                      <a:round/>
                      <a:headEnd type="none" w="med" len="med"/>
                      <a:tailEnd type="none" w="med" len="med"/>
                    </a:lnT>
                    <a:lnB cmpd="sng" algn="ctr" cap="flat" w="12104">
                      <a:solidFill>
                        <a:srgbClr val="FFFFFF"/>
                      </a:solidFill>
                      <a:prstDash val="solid"/>
                      <a:round/>
                      <a:headEnd type="none" w="med" len="med"/>
                      <a:tailEnd type="none" w="med" len="med"/>
                    </a:lnB>
                  </a:tcPr>
                </a:tc>
              </a:tr>
            </a:tbl>
          </a:graphicData>
        </a:graphic>
      </p:graphicFrame>
      <p:grpSp>
        <p:nvGrpSpPr>
          <p:cNvPr name="Group 10" id="10"/>
          <p:cNvGrpSpPr/>
          <p:nvPr/>
        </p:nvGrpSpPr>
        <p:grpSpPr>
          <a:xfrm rot="0">
            <a:off x="17117377" y="8031480"/>
            <a:ext cx="188595" cy="184785"/>
            <a:chOff x="0" y="0"/>
            <a:chExt cx="251460" cy="246380"/>
          </a:xfrm>
        </p:grpSpPr>
        <p:sp>
          <p:nvSpPr>
            <p:cNvPr name="Freeform 11" id="11"/>
            <p:cNvSpPr/>
            <p:nvPr/>
          </p:nvSpPr>
          <p:spPr>
            <a:xfrm flipH="false" flipV="false" rot="0">
              <a:off x="49530" y="49530"/>
              <a:ext cx="149860" cy="151130"/>
            </a:xfrm>
            <a:custGeom>
              <a:avLst/>
              <a:gdLst/>
              <a:ahLst/>
              <a:cxnLst/>
              <a:rect r="r" b="b" t="t" l="l"/>
              <a:pathLst>
                <a:path h="151130" w="149860">
                  <a:moveTo>
                    <a:pt x="149860" y="53340"/>
                  </a:moveTo>
                  <a:cubicBezTo>
                    <a:pt x="130810" y="133350"/>
                    <a:pt x="120650" y="140970"/>
                    <a:pt x="107950" y="144780"/>
                  </a:cubicBezTo>
                  <a:cubicBezTo>
                    <a:pt x="91440" y="151130"/>
                    <a:pt x="54610" y="148590"/>
                    <a:pt x="38100" y="140970"/>
                  </a:cubicBezTo>
                  <a:cubicBezTo>
                    <a:pt x="25400" y="135890"/>
                    <a:pt x="17780" y="125730"/>
                    <a:pt x="11430" y="115570"/>
                  </a:cubicBezTo>
                  <a:cubicBezTo>
                    <a:pt x="6350" y="105410"/>
                    <a:pt x="0" y="93980"/>
                    <a:pt x="1270" y="80010"/>
                  </a:cubicBezTo>
                  <a:cubicBezTo>
                    <a:pt x="2540" y="62230"/>
                    <a:pt x="17780" y="29210"/>
                    <a:pt x="30480" y="15240"/>
                  </a:cubicBezTo>
                  <a:cubicBezTo>
                    <a:pt x="39370" y="6350"/>
                    <a:pt x="50800" y="1270"/>
                    <a:pt x="63500" y="1270"/>
                  </a:cubicBezTo>
                  <a:cubicBezTo>
                    <a:pt x="82550" y="0"/>
                    <a:pt x="130810" y="21590"/>
                    <a:pt x="130810" y="21590"/>
                  </a:cubicBezTo>
                </a:path>
              </a:pathLst>
            </a:custGeom>
            <a:solidFill>
              <a:srgbClr val="C8E1EF"/>
            </a:solidFill>
            <a:ln cap="sq">
              <a:noFill/>
              <a:prstDash val="solid"/>
              <a:miter/>
            </a:ln>
          </p:spPr>
        </p:sp>
      </p:grpSp>
      <p:sp>
        <p:nvSpPr>
          <p:cNvPr name="Freeform 12" id="12"/>
          <p:cNvSpPr/>
          <p:nvPr/>
        </p:nvSpPr>
        <p:spPr>
          <a:xfrm flipH="false" flipV="false" rot="0">
            <a:off x="11444453" y="1627823"/>
            <a:ext cx="6843547" cy="7980813"/>
          </a:xfrm>
          <a:custGeom>
            <a:avLst/>
            <a:gdLst/>
            <a:ahLst/>
            <a:cxnLst/>
            <a:rect r="r" b="b" t="t" l="l"/>
            <a:pathLst>
              <a:path h="7980813" w="6843547">
                <a:moveTo>
                  <a:pt x="0" y="0"/>
                </a:moveTo>
                <a:lnTo>
                  <a:pt x="6843547" y="0"/>
                </a:lnTo>
                <a:lnTo>
                  <a:pt x="6843547" y="7980813"/>
                </a:lnTo>
                <a:lnTo>
                  <a:pt x="0" y="7980813"/>
                </a:lnTo>
                <a:lnTo>
                  <a:pt x="0" y="0"/>
                </a:lnTo>
                <a:close/>
              </a:path>
            </a:pathLst>
          </a:custGeom>
          <a:blipFill>
            <a:blip r:embed="rId4"/>
            <a:stretch>
              <a:fillRect l="0" t="0" r="0" b="0"/>
            </a:stretch>
          </a:blipFill>
        </p:spPr>
      </p:sp>
      <p:sp>
        <p:nvSpPr>
          <p:cNvPr name="TextBox 13" id="13"/>
          <p:cNvSpPr txBox="true"/>
          <p:nvPr/>
        </p:nvSpPr>
        <p:spPr>
          <a:xfrm rot="0">
            <a:off x="426378" y="553402"/>
            <a:ext cx="11052080" cy="1074421"/>
          </a:xfrm>
          <a:prstGeom prst="rect">
            <a:avLst/>
          </a:prstGeom>
        </p:spPr>
        <p:txBody>
          <a:bodyPr anchor="t" rtlCol="false" tIns="0" lIns="0" bIns="0" rIns="0">
            <a:spAutoFit/>
          </a:bodyPr>
          <a:lstStyle/>
          <a:p>
            <a:pPr algn="l">
              <a:lnSpc>
                <a:spcPts val="8295"/>
              </a:lnSpc>
            </a:pPr>
            <a:r>
              <a:rPr lang="en-US" sz="7900">
                <a:solidFill>
                  <a:srgbClr val="495B80"/>
                </a:solidFill>
                <a:latin typeface="Sunborn"/>
                <a:ea typeface="Sunborn"/>
                <a:cs typeface="Sunborn"/>
                <a:sym typeface="Sunborn"/>
              </a:rPr>
              <a:t>MAIN ARCHITECTURE</a:t>
            </a:r>
          </a:p>
        </p:txBody>
      </p:sp>
      <p:sp>
        <p:nvSpPr>
          <p:cNvPr name="TextBox 14" id="14"/>
          <p:cNvSpPr txBox="true"/>
          <p:nvPr/>
        </p:nvSpPr>
        <p:spPr>
          <a:xfrm rot="0">
            <a:off x="732050" y="1862495"/>
            <a:ext cx="10471967" cy="261302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Quicksand"/>
                <a:ea typeface="Quicksand"/>
                <a:cs typeface="Quicksand"/>
                <a:sym typeface="Quicksand"/>
              </a:rPr>
              <a:t>Our dual-branch architecture processes frontal and lateral X-ray images through a shared </a:t>
            </a:r>
            <a:r>
              <a:rPr lang="en-US" b="true" sz="2499">
                <a:solidFill>
                  <a:srgbClr val="FFFFFF"/>
                </a:solidFill>
                <a:latin typeface="Quicksand Bold"/>
                <a:ea typeface="Quicksand Bold"/>
                <a:cs typeface="Quicksand Bold"/>
                <a:sym typeface="Quicksand Bold"/>
              </a:rPr>
              <a:t>ResNet50 </a:t>
            </a:r>
            <a:r>
              <a:rPr lang="en-US" sz="2499">
                <a:solidFill>
                  <a:srgbClr val="FFFFFF"/>
                </a:solidFill>
                <a:latin typeface="Quicksand"/>
                <a:ea typeface="Quicksand"/>
                <a:cs typeface="Quicksand"/>
                <a:sym typeface="Quicksand"/>
              </a:rPr>
              <a:t>encoder to extract robust </a:t>
            </a:r>
            <a:r>
              <a:rPr lang="en-US" b="true" sz="2499">
                <a:solidFill>
                  <a:srgbClr val="FFFFFF"/>
                </a:solidFill>
                <a:latin typeface="Quicksand Bold"/>
                <a:ea typeface="Quicksand Bold"/>
                <a:cs typeface="Quicksand Bold"/>
                <a:sym typeface="Quicksand Bold"/>
              </a:rPr>
              <a:t>2048-dimensional features</a:t>
            </a:r>
            <a:r>
              <a:rPr lang="en-US" sz="2499">
                <a:solidFill>
                  <a:srgbClr val="FFFFFF"/>
                </a:solidFill>
                <a:latin typeface="Quicksand"/>
                <a:ea typeface="Quicksand"/>
                <a:cs typeface="Quicksand"/>
                <a:sym typeface="Quicksand"/>
              </a:rPr>
              <a:t> that are concatenated into a 4096-dimensional vector, which feeds into an MLP classifier for </a:t>
            </a:r>
            <a:r>
              <a:rPr lang="en-US" b="true" sz="2499">
                <a:solidFill>
                  <a:srgbClr val="FFFFFF"/>
                </a:solidFill>
                <a:latin typeface="Quicksand Bold"/>
                <a:ea typeface="Quicksand Bold"/>
                <a:cs typeface="Quicksand Bold"/>
                <a:sym typeface="Quicksand Bold"/>
              </a:rPr>
              <a:t>binary</a:t>
            </a:r>
            <a:r>
              <a:rPr lang="en-US" sz="2499">
                <a:solidFill>
                  <a:srgbClr val="FFFFFF"/>
                </a:solidFill>
                <a:latin typeface="Quicksand"/>
                <a:ea typeface="Quicksand"/>
                <a:cs typeface="Quicksand"/>
                <a:sym typeface="Quicksand"/>
              </a:rPr>
              <a:t>, </a:t>
            </a:r>
            <a:r>
              <a:rPr lang="en-US" b="true" sz="2499">
                <a:solidFill>
                  <a:srgbClr val="FFFFFF"/>
                </a:solidFill>
                <a:latin typeface="Quicksand Bold"/>
                <a:ea typeface="Quicksand Bold"/>
                <a:cs typeface="Quicksand Bold"/>
                <a:sym typeface="Quicksand Bold"/>
              </a:rPr>
              <a:t>ternary</a:t>
            </a:r>
            <a:r>
              <a:rPr lang="en-US" sz="2499">
                <a:solidFill>
                  <a:srgbClr val="FFFFFF"/>
                </a:solidFill>
                <a:latin typeface="Quicksand"/>
                <a:ea typeface="Quicksand"/>
                <a:cs typeface="Quicksand"/>
                <a:sym typeface="Quicksand"/>
              </a:rPr>
              <a:t>, or </a:t>
            </a:r>
            <a:r>
              <a:rPr lang="en-US" b="true" sz="2499">
                <a:solidFill>
                  <a:srgbClr val="FFFFFF"/>
                </a:solidFill>
                <a:latin typeface="Quicksand Bold"/>
                <a:ea typeface="Quicksand Bold"/>
                <a:cs typeface="Quicksand Bold"/>
                <a:sym typeface="Quicksand Bold"/>
              </a:rPr>
              <a:t>multiclass </a:t>
            </a:r>
            <a:r>
              <a:rPr lang="en-US" sz="2499">
                <a:solidFill>
                  <a:srgbClr val="FFFFFF"/>
                </a:solidFill>
                <a:latin typeface="Quicksand"/>
                <a:ea typeface="Quicksand"/>
                <a:cs typeface="Quicksand"/>
                <a:sym typeface="Quicksand"/>
              </a:rPr>
              <a:t>predictions and a linear projection followed by a GPT-2 decoder for generating coherent medical captions.</a:t>
            </a:r>
          </a:p>
        </p:txBody>
      </p:sp>
      <p:sp>
        <p:nvSpPr>
          <p:cNvPr name="TextBox 15" id="15"/>
          <p:cNvSpPr txBox="true"/>
          <p:nvPr/>
        </p:nvSpPr>
        <p:spPr>
          <a:xfrm rot="0">
            <a:off x="519486" y="4570770"/>
            <a:ext cx="3487079" cy="252613"/>
          </a:xfrm>
          <a:prstGeom prst="rect">
            <a:avLst/>
          </a:prstGeom>
        </p:spPr>
        <p:txBody>
          <a:bodyPr anchor="t" rtlCol="false" tIns="0" lIns="0" bIns="0" rIns="0">
            <a:spAutoFit/>
          </a:bodyPr>
          <a:lstStyle/>
          <a:p>
            <a:pPr algn="ctr">
              <a:lnSpc>
                <a:spcPts val="1982"/>
              </a:lnSpc>
            </a:pPr>
            <a:r>
              <a:rPr lang="en-US" sz="1723">
                <a:solidFill>
                  <a:srgbClr val="FFFFFF"/>
                </a:solidFill>
                <a:latin typeface="Sunborn"/>
                <a:ea typeface="Sunborn"/>
                <a:cs typeface="Sunborn"/>
                <a:sym typeface="Sunborn"/>
              </a:rPr>
              <a:t>BINARY CLASSIFICATION</a:t>
            </a:r>
          </a:p>
        </p:txBody>
      </p:sp>
      <p:sp>
        <p:nvSpPr>
          <p:cNvPr name="TextBox 16" id="16"/>
          <p:cNvSpPr txBox="true"/>
          <p:nvPr/>
        </p:nvSpPr>
        <p:spPr>
          <a:xfrm rot="0">
            <a:off x="639378" y="5971916"/>
            <a:ext cx="3487079" cy="252613"/>
          </a:xfrm>
          <a:prstGeom prst="rect">
            <a:avLst/>
          </a:prstGeom>
        </p:spPr>
        <p:txBody>
          <a:bodyPr anchor="t" rtlCol="false" tIns="0" lIns="0" bIns="0" rIns="0">
            <a:spAutoFit/>
          </a:bodyPr>
          <a:lstStyle/>
          <a:p>
            <a:pPr algn="ctr">
              <a:lnSpc>
                <a:spcPts val="1982"/>
              </a:lnSpc>
            </a:pPr>
            <a:r>
              <a:rPr lang="en-US" sz="1723">
                <a:solidFill>
                  <a:srgbClr val="FFFFFF"/>
                </a:solidFill>
                <a:latin typeface="Sunborn"/>
                <a:ea typeface="Sunborn"/>
                <a:cs typeface="Sunborn"/>
                <a:sym typeface="Sunborn"/>
              </a:rPr>
              <a:t>TERNARY CLASSIFICATION</a:t>
            </a:r>
          </a:p>
        </p:txBody>
      </p:sp>
      <p:sp>
        <p:nvSpPr>
          <p:cNvPr name="TextBox 17" id="17"/>
          <p:cNvSpPr txBox="true"/>
          <p:nvPr/>
        </p:nvSpPr>
        <p:spPr>
          <a:xfrm rot="0">
            <a:off x="457610" y="7372222"/>
            <a:ext cx="4211178" cy="252613"/>
          </a:xfrm>
          <a:prstGeom prst="rect">
            <a:avLst/>
          </a:prstGeom>
        </p:spPr>
        <p:txBody>
          <a:bodyPr anchor="t" rtlCol="false" tIns="0" lIns="0" bIns="0" rIns="0">
            <a:spAutoFit/>
          </a:bodyPr>
          <a:lstStyle/>
          <a:p>
            <a:pPr algn="ctr">
              <a:lnSpc>
                <a:spcPts val="1982"/>
              </a:lnSpc>
            </a:pPr>
            <a:r>
              <a:rPr lang="en-US" sz="1723">
                <a:solidFill>
                  <a:srgbClr val="FFFFFF"/>
                </a:solidFill>
                <a:latin typeface="Sunborn"/>
                <a:ea typeface="Sunborn"/>
                <a:cs typeface="Sunborn"/>
                <a:sym typeface="Sunborn"/>
              </a:rPr>
              <a:t>MULTICLASS CLASSIFICATION</a:t>
            </a:r>
          </a:p>
        </p:txBody>
      </p:sp>
      <p:sp>
        <p:nvSpPr>
          <p:cNvPr name="TextBox 18" id="18"/>
          <p:cNvSpPr txBox="true"/>
          <p:nvPr/>
        </p:nvSpPr>
        <p:spPr>
          <a:xfrm rot="0">
            <a:off x="9882706" y="4602438"/>
            <a:ext cx="1321311" cy="170229"/>
          </a:xfrm>
          <a:prstGeom prst="rect">
            <a:avLst/>
          </a:prstGeom>
        </p:spPr>
        <p:txBody>
          <a:bodyPr anchor="t" rtlCol="false" tIns="0" lIns="0" bIns="0" rIns="0">
            <a:spAutoFit/>
          </a:bodyPr>
          <a:lstStyle/>
          <a:p>
            <a:pPr algn="ctr">
              <a:lnSpc>
                <a:spcPts val="1499"/>
              </a:lnSpc>
              <a:spcBef>
                <a:spcPct val="0"/>
              </a:spcBef>
            </a:pPr>
            <a:r>
              <a:rPr lang="en-US" sz="1070">
                <a:solidFill>
                  <a:srgbClr val="FFFFFF"/>
                </a:solidFill>
                <a:latin typeface="Canva Sans"/>
                <a:ea typeface="Canva Sans"/>
                <a:cs typeface="Canva Sans"/>
                <a:sym typeface="Canva Sans"/>
              </a:rPr>
              <a:t> *    =    ACCURACY</a:t>
            </a:r>
          </a:p>
        </p:txBody>
      </p:sp>
      <p:sp>
        <p:nvSpPr>
          <p:cNvPr name="TextBox 19" id="19"/>
          <p:cNvSpPr txBox="true"/>
          <p:nvPr/>
        </p:nvSpPr>
        <p:spPr>
          <a:xfrm rot="0">
            <a:off x="732050" y="8719948"/>
            <a:ext cx="10529695" cy="1236344"/>
          </a:xfrm>
          <a:prstGeom prst="rect">
            <a:avLst/>
          </a:prstGeom>
        </p:spPr>
        <p:txBody>
          <a:bodyPr anchor="t" rtlCol="false" tIns="0" lIns="0" bIns="0" rIns="0">
            <a:spAutoFit/>
          </a:bodyPr>
          <a:lstStyle/>
          <a:p>
            <a:pPr algn="just">
              <a:lnSpc>
                <a:spcPts val="1680"/>
              </a:lnSpc>
            </a:pPr>
            <a:r>
              <a:rPr lang="en-US" sz="1200" b="true">
                <a:solidFill>
                  <a:srgbClr val="FFFFFF"/>
                </a:solidFill>
                <a:latin typeface="Quicksand Bold"/>
                <a:ea typeface="Quicksand Bold"/>
                <a:cs typeface="Quicksand Bold"/>
                <a:sym typeface="Quicksand Bold"/>
              </a:rPr>
              <a:t>True Caption:</a:t>
            </a:r>
          </a:p>
          <a:p>
            <a:pPr algn="just">
              <a:lnSpc>
                <a:spcPts val="1680"/>
              </a:lnSpc>
            </a:pPr>
            <a:r>
              <a:rPr lang="en-US" sz="1200">
                <a:solidFill>
                  <a:srgbClr val="FFFFFF"/>
                </a:solidFill>
                <a:latin typeface="Quicksand"/>
                <a:ea typeface="Quicksand"/>
                <a:cs typeface="Quicksand"/>
                <a:sym typeface="Quicksand"/>
              </a:rPr>
              <a:t>      Lungs are clear. There is no pneumothorax or pleural effusion. The heart and mediastinum are within normal limits. Bony structures are intact.</a:t>
            </a:r>
          </a:p>
          <a:p>
            <a:pPr algn="just">
              <a:lnSpc>
                <a:spcPts val="1680"/>
              </a:lnSpc>
            </a:pPr>
            <a:r>
              <a:rPr lang="en-US" sz="1200" b="true">
                <a:solidFill>
                  <a:srgbClr val="FFFFFF"/>
                </a:solidFill>
                <a:latin typeface="Quicksand Bold"/>
                <a:ea typeface="Quicksand Bold"/>
                <a:cs typeface="Quicksand Bold"/>
                <a:sym typeface="Quicksand Bold"/>
              </a:rPr>
              <a:t>Pred Caption (Model Output):</a:t>
            </a:r>
          </a:p>
          <a:p>
            <a:pPr algn="just">
              <a:lnSpc>
                <a:spcPts val="1680"/>
              </a:lnSpc>
            </a:pPr>
            <a:r>
              <a:rPr lang="en-US" sz="1200">
                <a:solidFill>
                  <a:srgbClr val="FFFFFF"/>
                </a:solidFill>
                <a:latin typeface="Quicksand"/>
                <a:ea typeface="Quicksand"/>
                <a:cs typeface="Quicksand"/>
                <a:sym typeface="Quicksand"/>
              </a:rPr>
              <a:t>     Heart size upper limits of normal. Mediastinal contour within normal limits but stable. No pneumothorax or large pleural effusions. No focal areas</a:t>
            </a:r>
          </a:p>
          <a:p>
            <a:pPr algn="just">
              <a:lnSpc>
                <a:spcPts val="1680"/>
              </a:lnSpc>
            </a:pPr>
            <a:r>
              <a:rPr lang="en-US" sz="1200">
                <a:solidFill>
                  <a:srgbClr val="FFFFFF"/>
                </a:solidFill>
                <a:latin typeface="Quicksand"/>
                <a:ea typeface="Quicksand"/>
                <a:cs typeface="Quicksand"/>
                <a:sym typeface="Quicksand"/>
              </a:rPr>
              <a:t>     of consolidation or pneumothorax. area of pulmonary consolidation is identified. No pneumothorax or effusion is identified.</a:t>
            </a:r>
          </a:p>
          <a:p>
            <a:pPr algn="just">
              <a:lnSpc>
                <a:spcPts val="168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6438619" y="1771895"/>
            <a:ext cx="11409270" cy="8391079"/>
            <a:chOff x="0" y="0"/>
            <a:chExt cx="3307696" cy="2432683"/>
          </a:xfrm>
        </p:grpSpPr>
        <p:sp>
          <p:nvSpPr>
            <p:cNvPr name="Freeform 4" id="4"/>
            <p:cNvSpPr/>
            <p:nvPr/>
          </p:nvSpPr>
          <p:spPr>
            <a:xfrm flipH="false" flipV="false" rot="0">
              <a:off x="0" y="0"/>
              <a:ext cx="3307696" cy="2432683"/>
            </a:xfrm>
            <a:custGeom>
              <a:avLst/>
              <a:gdLst/>
              <a:ahLst/>
              <a:cxnLst/>
              <a:rect r="r" b="b" t="t" l="l"/>
              <a:pathLst>
                <a:path h="2432683" w="3307696">
                  <a:moveTo>
                    <a:pt x="0" y="0"/>
                  </a:moveTo>
                  <a:lnTo>
                    <a:pt x="3307696" y="0"/>
                  </a:lnTo>
                  <a:lnTo>
                    <a:pt x="3307696" y="2432683"/>
                  </a:lnTo>
                  <a:lnTo>
                    <a:pt x="0" y="2432683"/>
                  </a:lnTo>
                  <a:close/>
                </a:path>
              </a:pathLst>
            </a:custGeom>
            <a:solidFill>
              <a:srgbClr val="495B80"/>
            </a:solidFill>
            <a:ln w="38100" cap="sq">
              <a:solidFill>
                <a:srgbClr val="000000"/>
              </a:solidFill>
              <a:prstDash val="solid"/>
              <a:miter/>
            </a:ln>
          </p:spPr>
        </p:sp>
        <p:sp>
          <p:nvSpPr>
            <p:cNvPr name="TextBox 5" id="5"/>
            <p:cNvSpPr txBox="true"/>
            <p:nvPr/>
          </p:nvSpPr>
          <p:spPr>
            <a:xfrm>
              <a:off x="0" y="-38100"/>
              <a:ext cx="3307696" cy="247078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false" rot="611615">
            <a:off x="16261884" y="-54374"/>
            <a:ext cx="1994831" cy="1766257"/>
          </a:xfrm>
          <a:custGeom>
            <a:avLst/>
            <a:gdLst/>
            <a:ahLst/>
            <a:cxnLst/>
            <a:rect r="r" b="b" t="t" l="l"/>
            <a:pathLst>
              <a:path h="1766257" w="1994831">
                <a:moveTo>
                  <a:pt x="1994832" y="0"/>
                </a:moveTo>
                <a:lnTo>
                  <a:pt x="0" y="0"/>
                </a:lnTo>
                <a:lnTo>
                  <a:pt x="0" y="1766256"/>
                </a:lnTo>
                <a:lnTo>
                  <a:pt x="1994832" y="1766256"/>
                </a:lnTo>
                <a:lnTo>
                  <a:pt x="1994832" y="0"/>
                </a:lnTo>
                <a:close/>
              </a:path>
            </a:pathLst>
          </a:custGeom>
          <a:blipFill>
            <a:blip r:embed="rId3"/>
            <a:stretch>
              <a:fillRect l="0" t="0" r="0" b="0"/>
            </a:stretch>
          </a:blipFill>
        </p:spPr>
      </p:sp>
      <p:sp>
        <p:nvSpPr>
          <p:cNvPr name="TextBox 7" id="7"/>
          <p:cNvSpPr txBox="true"/>
          <p:nvPr/>
        </p:nvSpPr>
        <p:spPr>
          <a:xfrm rot="0">
            <a:off x="6831653" y="1943882"/>
            <a:ext cx="10623203" cy="4200788"/>
          </a:xfrm>
          <a:prstGeom prst="rect">
            <a:avLst/>
          </a:prstGeom>
        </p:spPr>
        <p:txBody>
          <a:bodyPr anchor="t" rtlCol="false" tIns="0" lIns="0" bIns="0" rIns="0">
            <a:spAutoFit/>
          </a:bodyPr>
          <a:lstStyle/>
          <a:p>
            <a:pPr algn="just">
              <a:lnSpc>
                <a:spcPts val="2610"/>
              </a:lnSpc>
            </a:pPr>
            <a:r>
              <a:rPr lang="en-US" sz="1864">
                <a:solidFill>
                  <a:srgbClr val="FFFFFF"/>
                </a:solidFill>
                <a:latin typeface="Quicksand"/>
                <a:ea typeface="Quicksand"/>
                <a:cs typeface="Quicksand"/>
                <a:sym typeface="Quicksand"/>
              </a:rPr>
              <a:t>The transformer decoder used in our model for medical caption generation builds on an architecture </a:t>
            </a:r>
            <a:r>
              <a:rPr lang="en-US" sz="1864">
                <a:solidFill>
                  <a:srgbClr val="FFFFFF"/>
                </a:solidFill>
                <a:latin typeface="Quicksand"/>
                <a:ea typeface="Quicksand"/>
                <a:cs typeface="Quicksand"/>
                <a:sym typeface="Quicksand"/>
              </a:rPr>
              <a:t>similar to GPT-2. </a:t>
            </a:r>
          </a:p>
          <a:p>
            <a:pPr algn="just">
              <a:lnSpc>
                <a:spcPts val="2610"/>
              </a:lnSpc>
            </a:pPr>
            <a:r>
              <a:rPr lang="en-US" sz="1864" b="true">
                <a:solidFill>
                  <a:srgbClr val="FFFFFF"/>
                </a:solidFill>
                <a:latin typeface="Quicksand Bold"/>
                <a:ea typeface="Quicksand Bold"/>
                <a:cs typeface="Quicksand Bold"/>
                <a:sym typeface="Quicksand Bold"/>
              </a:rPr>
              <a:t>Positional encoding</a:t>
            </a:r>
            <a:r>
              <a:rPr lang="en-US" sz="1864">
                <a:solidFill>
                  <a:srgbClr val="FFFFFF"/>
                </a:solidFill>
                <a:latin typeface="Quicksand"/>
                <a:ea typeface="Quicksand"/>
                <a:cs typeface="Quicksand"/>
                <a:sym typeface="Quicksand"/>
              </a:rPr>
              <a:t> integrates sinusoidal functions to inject positional information into the token embeddings, ensuring that the model can capture sequential order. </a:t>
            </a:r>
          </a:p>
          <a:p>
            <a:pPr algn="just">
              <a:lnSpc>
                <a:spcPts val="2610"/>
              </a:lnSpc>
            </a:pPr>
            <a:r>
              <a:rPr lang="en-US" sz="1864" b="true">
                <a:solidFill>
                  <a:srgbClr val="FFFFFF"/>
                </a:solidFill>
                <a:latin typeface="Quicksand Bold"/>
                <a:ea typeface="Quicksand Bold"/>
                <a:cs typeface="Quicksand Bold"/>
                <a:sym typeface="Quicksand Bold"/>
              </a:rPr>
              <a:t>The self-attention mechanism</a:t>
            </a:r>
            <a:r>
              <a:rPr lang="en-US" sz="1864">
                <a:solidFill>
                  <a:srgbClr val="FFFFFF"/>
                </a:solidFill>
                <a:latin typeface="Quicksand"/>
                <a:ea typeface="Quicksand"/>
                <a:cs typeface="Quicksand"/>
                <a:sym typeface="Quicksand"/>
              </a:rPr>
              <a:t> allows the model to focus on relevant parts of the input sequence while generating each token. A square subsequent mask prevents the model from peeking into future tokens, enforcing an</a:t>
            </a:r>
          </a:p>
          <a:p>
            <a:pPr algn="just">
              <a:lnSpc>
                <a:spcPts val="2610"/>
              </a:lnSpc>
              <a:spcBef>
                <a:spcPct val="0"/>
              </a:spcBef>
            </a:pPr>
            <a:r>
              <a:rPr lang="en-US" sz="1864">
                <a:solidFill>
                  <a:srgbClr val="FFFFFF"/>
                </a:solidFill>
                <a:latin typeface="Quicksand"/>
                <a:ea typeface="Quicksand"/>
                <a:cs typeface="Quicksand"/>
                <a:sym typeface="Quicksand"/>
              </a:rPr>
              <a:t>autoregressive generation process. The </a:t>
            </a:r>
            <a:r>
              <a:rPr lang="en-US" b="true" sz="1864">
                <a:solidFill>
                  <a:srgbClr val="FFFFFF"/>
                </a:solidFill>
                <a:latin typeface="Quicksand Bold"/>
                <a:ea typeface="Quicksand Bold"/>
                <a:cs typeface="Quicksand Bold"/>
                <a:sym typeface="Quicksand Bold"/>
              </a:rPr>
              <a:t>forward </a:t>
            </a:r>
            <a:r>
              <a:rPr lang="en-US" sz="1864">
                <a:solidFill>
                  <a:srgbClr val="FFFFFF"/>
                </a:solidFill>
                <a:latin typeface="Quicksand"/>
                <a:ea typeface="Quicksand"/>
                <a:cs typeface="Quicksand"/>
                <a:sym typeface="Quicksand"/>
              </a:rPr>
              <a:t>pass processes the target sequence and image features, passing them to the transformer decoder, which outputs logits for each token in the sequence. The </a:t>
            </a:r>
            <a:r>
              <a:rPr lang="en-US" b="true" sz="1864">
                <a:solidFill>
                  <a:srgbClr val="FFFFFF"/>
                </a:solidFill>
                <a:latin typeface="Quicksand Bold"/>
                <a:ea typeface="Quicksand Bold"/>
                <a:cs typeface="Quicksand Bold"/>
                <a:sym typeface="Quicksand Bold"/>
              </a:rPr>
              <a:t>generate_report</a:t>
            </a:r>
            <a:r>
              <a:rPr lang="en-US" sz="1864">
                <a:solidFill>
                  <a:srgbClr val="FFFFFF"/>
                </a:solidFill>
                <a:latin typeface="Quicksand"/>
                <a:ea typeface="Quicksand"/>
                <a:cs typeface="Quicksand"/>
                <a:sym typeface="Quicksand"/>
              </a:rPr>
              <a:t>` method uses autoregressive generation, iteratively predicting tokens, and stopping once the end of sequence (EOS) token is predicted or the maximum sequence length is reached. This architecture enables coherent and contextually relevant captions based on medical images.</a:t>
            </a:r>
          </a:p>
        </p:txBody>
      </p:sp>
      <p:sp>
        <p:nvSpPr>
          <p:cNvPr name="Freeform 8" id="8"/>
          <p:cNvSpPr/>
          <p:nvPr/>
        </p:nvSpPr>
        <p:spPr>
          <a:xfrm flipH="false" flipV="false" rot="0">
            <a:off x="662482" y="124026"/>
            <a:ext cx="4392040" cy="10038948"/>
          </a:xfrm>
          <a:custGeom>
            <a:avLst/>
            <a:gdLst/>
            <a:ahLst/>
            <a:cxnLst/>
            <a:rect r="r" b="b" t="t" l="l"/>
            <a:pathLst>
              <a:path h="10038948" w="4392040">
                <a:moveTo>
                  <a:pt x="0" y="0"/>
                </a:moveTo>
                <a:lnTo>
                  <a:pt x="4392040" y="0"/>
                </a:lnTo>
                <a:lnTo>
                  <a:pt x="4392040" y="10038948"/>
                </a:lnTo>
                <a:lnTo>
                  <a:pt x="0" y="10038948"/>
                </a:lnTo>
                <a:lnTo>
                  <a:pt x="0" y="0"/>
                </a:lnTo>
                <a:close/>
              </a:path>
            </a:pathLst>
          </a:custGeom>
          <a:blipFill>
            <a:blip r:embed="rId4"/>
            <a:stretch>
              <a:fillRect l="0" t="0" r="0" b="0"/>
            </a:stretch>
          </a:blipFill>
        </p:spPr>
      </p:sp>
      <p:sp>
        <p:nvSpPr>
          <p:cNvPr name="TextBox 9" id="9"/>
          <p:cNvSpPr txBox="true"/>
          <p:nvPr/>
        </p:nvSpPr>
        <p:spPr>
          <a:xfrm rot="0">
            <a:off x="5626219" y="538164"/>
            <a:ext cx="12221670" cy="1095373"/>
          </a:xfrm>
          <a:prstGeom prst="rect">
            <a:avLst/>
          </a:prstGeom>
        </p:spPr>
        <p:txBody>
          <a:bodyPr anchor="t" rtlCol="false" tIns="0" lIns="0" bIns="0" rIns="0">
            <a:spAutoFit/>
          </a:bodyPr>
          <a:lstStyle/>
          <a:p>
            <a:pPr algn="r">
              <a:lnSpc>
                <a:spcPts val="8399"/>
              </a:lnSpc>
            </a:pPr>
            <a:r>
              <a:rPr lang="en-US" sz="7999">
                <a:solidFill>
                  <a:srgbClr val="495B80"/>
                </a:solidFill>
                <a:latin typeface="Sunborn"/>
                <a:ea typeface="Sunborn"/>
                <a:cs typeface="Sunborn"/>
                <a:sym typeface="Sunborn"/>
              </a:rPr>
              <a:t>CUSTOM TRANSFORMER</a:t>
            </a:r>
          </a:p>
        </p:txBody>
      </p:sp>
      <p:graphicFrame>
        <p:nvGraphicFramePr>
          <p:cNvPr name="Table 10" id="10"/>
          <p:cNvGraphicFramePr>
            <a:graphicFrameLocks noGrp="true"/>
          </p:cNvGraphicFramePr>
          <p:nvPr/>
        </p:nvGraphicFramePr>
        <p:xfrm>
          <a:off x="6896806" y="6479875"/>
          <a:ext cx="5062865" cy="386659"/>
        </p:xfrm>
        <a:graphic>
          <a:graphicData uri="http://schemas.openxmlformats.org/drawingml/2006/table">
            <a:tbl>
              <a:tblPr/>
              <a:tblGrid>
                <a:gridCol w="1268890"/>
                <a:gridCol w="1210634"/>
                <a:gridCol w="798417"/>
                <a:gridCol w="741915"/>
                <a:gridCol w="1043010"/>
              </a:tblGrid>
              <a:tr h="193330">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*CLASS 0</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*CLASS 1</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TOTAL ACCURACY</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BLEU-4</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ROUGE-L</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r>
              <a:tr h="193330">
                <a:tc>
                  <a:txBody>
                    <a:bodyPr anchor="t" rtlCol="false"/>
                    <a:lstStyle/>
                    <a:p>
                      <a:pPr algn="ctr">
                        <a:lnSpc>
                          <a:spcPts val="1389"/>
                        </a:lnSpc>
                        <a:defRPr/>
                      </a:pPr>
                      <a:r>
                        <a:rPr lang="en-US" sz="992">
                          <a:solidFill>
                            <a:srgbClr val="FFFFFF"/>
                          </a:solidFill>
                          <a:latin typeface="Canva Sans"/>
                          <a:ea typeface="Canva Sans"/>
                          <a:cs typeface="Canva Sans"/>
                          <a:sym typeface="Canva Sans"/>
                        </a:rPr>
                        <a:t>61.46%</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68.33%</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65.75%</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0.0442</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0.2427</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r>
            </a:tbl>
          </a:graphicData>
        </a:graphic>
      </p:graphicFrame>
      <p:graphicFrame>
        <p:nvGraphicFramePr>
          <p:cNvPr name="Table 11" id="11"/>
          <p:cNvGraphicFramePr>
            <a:graphicFrameLocks noGrp="true"/>
          </p:cNvGraphicFramePr>
          <p:nvPr/>
        </p:nvGraphicFramePr>
        <p:xfrm>
          <a:off x="6896806" y="7710526"/>
          <a:ext cx="5062865" cy="386659"/>
        </p:xfrm>
        <a:graphic>
          <a:graphicData uri="http://schemas.openxmlformats.org/drawingml/2006/table">
            <a:tbl>
              <a:tblPr/>
              <a:tblGrid>
                <a:gridCol w="576750"/>
                <a:gridCol w="482859"/>
                <a:gridCol w="437139"/>
                <a:gridCol w="456410"/>
                <a:gridCol w="526365"/>
                <a:gridCol w="798984"/>
                <a:gridCol w="741552"/>
                <a:gridCol w="1042805"/>
              </a:tblGrid>
              <a:tr h="193330">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*CLASS 0</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*CLASS 1</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*CLASS 2</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*CLASS 3</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*CLASS 4</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TOTAL ACCURACY</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BLEU-4</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c>
                  <a:txBody>
                    <a:bodyPr anchor="t" rtlCol="false"/>
                    <a:lstStyle/>
                    <a:p>
                      <a:pPr algn="ctr">
                        <a:lnSpc>
                          <a:spcPts val="1389"/>
                        </a:lnSpc>
                        <a:defRPr/>
                      </a:pPr>
                      <a:r>
                        <a:rPr lang="en-US" sz="992" b="true">
                          <a:solidFill>
                            <a:srgbClr val="495B80"/>
                          </a:solidFill>
                          <a:latin typeface="Canva Sans Bold"/>
                          <a:ea typeface="Canva Sans Bold"/>
                          <a:cs typeface="Canva Sans Bold"/>
                          <a:sym typeface="Canva Sans Bold"/>
                        </a:rPr>
                        <a:t>ROUGE-L</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solidFill>
                      <a:srgbClr val="C8E1EF"/>
                    </a:solidFill>
                  </a:tcPr>
                </a:tc>
              </a:tr>
              <a:tr h="193330">
                <a:tc>
                  <a:txBody>
                    <a:bodyPr anchor="t" rtlCol="false"/>
                    <a:lstStyle/>
                    <a:p>
                      <a:pPr algn="ctr">
                        <a:lnSpc>
                          <a:spcPts val="1389"/>
                        </a:lnSpc>
                        <a:defRPr/>
                      </a:pPr>
                      <a:r>
                        <a:rPr lang="en-US" sz="992">
                          <a:solidFill>
                            <a:srgbClr val="FFFFFF"/>
                          </a:solidFill>
                          <a:latin typeface="Canva Sans"/>
                          <a:ea typeface="Canva Sans"/>
                          <a:cs typeface="Canva Sans"/>
                          <a:sym typeface="Canva Sans"/>
                        </a:rPr>
                        <a:t> 38.54%</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8.29%</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14.71%</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41.300%</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34.09%</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24.91%</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0.0435</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c>
                  <a:txBody>
                    <a:bodyPr anchor="t" rtlCol="false"/>
                    <a:lstStyle/>
                    <a:p>
                      <a:pPr algn="ctr">
                        <a:lnSpc>
                          <a:spcPts val="1389"/>
                        </a:lnSpc>
                        <a:defRPr/>
                      </a:pPr>
                      <a:r>
                        <a:rPr lang="en-US" sz="992">
                          <a:solidFill>
                            <a:srgbClr val="FFFFFF"/>
                          </a:solidFill>
                          <a:latin typeface="Canva Sans"/>
                          <a:ea typeface="Canva Sans"/>
                          <a:cs typeface="Canva Sans"/>
                          <a:sym typeface="Canva Sans"/>
                        </a:rPr>
                        <a:t>0.2517</a:t>
                      </a:r>
                      <a:endParaRPr lang="en-US" sz="1100"/>
                    </a:p>
                  </a:txBody>
                  <a:tcPr marL="90035" marR="90035" marT="90035" marB="90035" anchor="ctr">
                    <a:lnL cmpd="sng" algn="ctr" cap="flat" w="8511">
                      <a:solidFill>
                        <a:srgbClr val="FFFFFF"/>
                      </a:solidFill>
                      <a:prstDash val="solid"/>
                      <a:round/>
                      <a:headEnd type="none" w="med" len="med"/>
                      <a:tailEnd type="none" w="med" len="med"/>
                    </a:lnL>
                    <a:lnR cmpd="sng" algn="ctr" cap="flat" w="8511">
                      <a:solidFill>
                        <a:srgbClr val="FFFFFF"/>
                      </a:solidFill>
                      <a:prstDash val="solid"/>
                      <a:round/>
                      <a:headEnd type="none" w="med" len="med"/>
                      <a:tailEnd type="none" w="med" len="med"/>
                    </a:lnR>
                    <a:lnT cmpd="sng" algn="ctr" cap="flat" w="8511">
                      <a:solidFill>
                        <a:srgbClr val="FFFFFF"/>
                      </a:solidFill>
                      <a:prstDash val="solid"/>
                      <a:round/>
                      <a:headEnd type="none" w="med" len="med"/>
                      <a:tailEnd type="none" w="med" len="med"/>
                    </a:lnT>
                    <a:lnB cmpd="sng" algn="ctr" cap="flat" w="8511">
                      <a:solidFill>
                        <a:srgbClr val="FFFFFF"/>
                      </a:solidFill>
                      <a:prstDash val="solid"/>
                      <a:round/>
                      <a:headEnd type="none" w="med" len="med"/>
                      <a:tailEnd type="none" w="med" len="med"/>
                    </a:lnB>
                  </a:tcPr>
                </a:tc>
              </a:tr>
            </a:tbl>
          </a:graphicData>
        </a:graphic>
      </p:graphicFrame>
      <p:sp>
        <p:nvSpPr>
          <p:cNvPr name="TextBox 12" id="12"/>
          <p:cNvSpPr txBox="true"/>
          <p:nvPr/>
        </p:nvSpPr>
        <p:spPr>
          <a:xfrm rot="0">
            <a:off x="6662076" y="6272522"/>
            <a:ext cx="2923982" cy="210283"/>
          </a:xfrm>
          <a:prstGeom prst="rect">
            <a:avLst/>
          </a:prstGeom>
        </p:spPr>
        <p:txBody>
          <a:bodyPr anchor="t" rtlCol="false" tIns="0" lIns="0" bIns="0" rIns="0">
            <a:spAutoFit/>
          </a:bodyPr>
          <a:lstStyle/>
          <a:p>
            <a:pPr algn="ctr">
              <a:lnSpc>
                <a:spcPts val="1662"/>
              </a:lnSpc>
            </a:pPr>
            <a:r>
              <a:rPr lang="en-US" sz="1445">
                <a:solidFill>
                  <a:srgbClr val="FFFFFF"/>
                </a:solidFill>
                <a:latin typeface="Sunborn"/>
                <a:ea typeface="Sunborn"/>
                <a:cs typeface="Sunborn"/>
                <a:sym typeface="Sunborn"/>
              </a:rPr>
              <a:t>BINARY CLASSIFICATION</a:t>
            </a:r>
          </a:p>
        </p:txBody>
      </p:sp>
      <p:sp>
        <p:nvSpPr>
          <p:cNvPr name="TextBox 13" id="13"/>
          <p:cNvSpPr txBox="true"/>
          <p:nvPr/>
        </p:nvSpPr>
        <p:spPr>
          <a:xfrm rot="0">
            <a:off x="6568829" y="7500243"/>
            <a:ext cx="3531152" cy="210283"/>
          </a:xfrm>
          <a:prstGeom prst="rect">
            <a:avLst/>
          </a:prstGeom>
        </p:spPr>
        <p:txBody>
          <a:bodyPr anchor="t" rtlCol="false" tIns="0" lIns="0" bIns="0" rIns="0">
            <a:spAutoFit/>
          </a:bodyPr>
          <a:lstStyle/>
          <a:p>
            <a:pPr algn="ctr">
              <a:lnSpc>
                <a:spcPts val="1662"/>
              </a:lnSpc>
            </a:pPr>
            <a:r>
              <a:rPr lang="en-US" sz="1445">
                <a:solidFill>
                  <a:srgbClr val="FFFFFF"/>
                </a:solidFill>
                <a:latin typeface="Sunborn"/>
                <a:ea typeface="Sunborn"/>
                <a:cs typeface="Sunborn"/>
                <a:sym typeface="Sunborn"/>
              </a:rPr>
              <a:t>MULTICLASS CLASSIFICATION</a:t>
            </a:r>
          </a:p>
        </p:txBody>
      </p:sp>
      <p:sp>
        <p:nvSpPr>
          <p:cNvPr name="TextBox 14" id="14"/>
          <p:cNvSpPr txBox="true"/>
          <p:nvPr/>
        </p:nvSpPr>
        <p:spPr>
          <a:xfrm rot="0">
            <a:off x="6831653" y="8709608"/>
            <a:ext cx="10856059" cy="1236344"/>
          </a:xfrm>
          <a:prstGeom prst="rect">
            <a:avLst/>
          </a:prstGeom>
        </p:spPr>
        <p:txBody>
          <a:bodyPr anchor="t" rtlCol="false" tIns="0" lIns="0" bIns="0" rIns="0">
            <a:spAutoFit/>
          </a:bodyPr>
          <a:lstStyle/>
          <a:p>
            <a:pPr algn="just">
              <a:lnSpc>
                <a:spcPts val="1680"/>
              </a:lnSpc>
            </a:pPr>
            <a:r>
              <a:rPr lang="en-US" sz="1200" b="true">
                <a:solidFill>
                  <a:srgbClr val="FFFFFF"/>
                </a:solidFill>
                <a:latin typeface="Quicksand Bold"/>
                <a:ea typeface="Quicksand Bold"/>
                <a:cs typeface="Quicksand Bold"/>
                <a:sym typeface="Quicksand Bold"/>
              </a:rPr>
              <a:t>True Caption:</a:t>
            </a:r>
          </a:p>
          <a:p>
            <a:pPr algn="just">
              <a:lnSpc>
                <a:spcPts val="1680"/>
              </a:lnSpc>
            </a:pPr>
            <a:r>
              <a:rPr lang="en-US" sz="1200">
                <a:solidFill>
                  <a:srgbClr val="FFFFFF"/>
                </a:solidFill>
                <a:latin typeface="Quicksand"/>
                <a:ea typeface="Quicksand"/>
                <a:cs typeface="Quicksand"/>
                <a:sym typeface="Quicksand"/>
              </a:rPr>
              <a:t>      The cardiac contours are normal. The lungs are clear. Thoracic spondylosis.</a:t>
            </a:r>
          </a:p>
          <a:p>
            <a:pPr algn="just">
              <a:lnSpc>
                <a:spcPts val="1680"/>
              </a:lnSpc>
            </a:pPr>
            <a:r>
              <a:rPr lang="en-US" sz="1200" b="true">
                <a:solidFill>
                  <a:srgbClr val="FFFFFF"/>
                </a:solidFill>
                <a:latin typeface="Quicksand Bold"/>
                <a:ea typeface="Quicksand Bold"/>
                <a:cs typeface="Quicksand Bold"/>
                <a:sym typeface="Quicksand Bold"/>
              </a:rPr>
              <a:t>Pred Caption (Model Output):</a:t>
            </a:r>
          </a:p>
          <a:p>
            <a:pPr algn="just">
              <a:lnSpc>
                <a:spcPts val="1680"/>
              </a:lnSpc>
            </a:pPr>
            <a:r>
              <a:rPr lang="en-US" sz="1200">
                <a:solidFill>
                  <a:srgbClr val="FFFFFF"/>
                </a:solidFill>
                <a:latin typeface="Quicksand"/>
                <a:ea typeface="Quicksand"/>
                <a:cs typeface="Quicksand"/>
                <a:sym typeface="Quicksand"/>
              </a:rPr>
              <a:t>      cardiomediastinal silhouette and hilar contours. Lungs are clear without focal consolidation, pneumothorax, large pleural effusion, or pneumothorax.</a:t>
            </a:r>
          </a:p>
          <a:p>
            <a:pPr algn="just">
              <a:lnSpc>
                <a:spcPts val="1680"/>
              </a:lnSpc>
            </a:pPr>
            <a:r>
              <a:rPr lang="en-US" sz="1200">
                <a:solidFill>
                  <a:srgbClr val="FFFFFF"/>
                </a:solidFill>
                <a:latin typeface="Quicksand"/>
                <a:ea typeface="Quicksand"/>
                <a:cs typeface="Quicksand"/>
                <a:sym typeface="Quicksand"/>
              </a:rPr>
              <a:t>      Cardiomediastinal contours are unremarkable. Negative for acute bony findings. Stable degenerative changes of the thoracic spine. No XXXX. Stable</a:t>
            </a:r>
          </a:p>
          <a:p>
            <a:pPr algn="just">
              <a:lnSpc>
                <a:spcPts val="1680"/>
              </a:lnSpc>
              <a:spcBef>
                <a:spcPct val="0"/>
              </a:spcBef>
            </a:pPr>
            <a:r>
              <a:rPr lang="en-US" sz="1200">
                <a:solidFill>
                  <a:srgbClr val="FFFFFF"/>
                </a:solidFill>
                <a:latin typeface="Quicksand"/>
                <a:ea typeface="Quicksand"/>
                <a:cs typeface="Quicksand"/>
                <a:sym typeface="Quicksand"/>
              </a:rPr>
              <a:t>      mild degenerative changes of the thoracic spine. Degenerative changes noted within the thoracic spine. [...] Stable normal limits.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311317" y="104775"/>
            <a:ext cx="13724651" cy="1061091"/>
          </a:xfrm>
          <a:prstGeom prst="rect">
            <a:avLst/>
          </a:prstGeom>
        </p:spPr>
        <p:txBody>
          <a:bodyPr anchor="t" rtlCol="false" tIns="0" lIns="0" bIns="0" rIns="0">
            <a:spAutoFit/>
          </a:bodyPr>
          <a:lstStyle/>
          <a:p>
            <a:pPr algn="l">
              <a:lnSpc>
                <a:spcPts val="8085"/>
              </a:lnSpc>
            </a:pPr>
            <a:r>
              <a:rPr lang="en-US" sz="7700">
                <a:solidFill>
                  <a:srgbClr val="495B80"/>
                </a:solidFill>
                <a:latin typeface="Sunborn"/>
                <a:ea typeface="Sunborn"/>
                <a:cs typeface="Sunborn"/>
                <a:sym typeface="Sunborn"/>
              </a:rPr>
              <a:t>IMAGE RECONSTRUCTION</a:t>
            </a:r>
          </a:p>
        </p:txBody>
      </p:sp>
      <p:sp>
        <p:nvSpPr>
          <p:cNvPr name="Freeform 4" id="4"/>
          <p:cNvSpPr/>
          <p:nvPr/>
        </p:nvSpPr>
        <p:spPr>
          <a:xfrm flipH="false" flipV="false" rot="-533060">
            <a:off x="16171929" y="-690063"/>
            <a:ext cx="2174742" cy="2169305"/>
          </a:xfrm>
          <a:custGeom>
            <a:avLst/>
            <a:gdLst/>
            <a:ahLst/>
            <a:cxnLst/>
            <a:rect r="r" b="b" t="t" l="l"/>
            <a:pathLst>
              <a:path h="2169305" w="2174742">
                <a:moveTo>
                  <a:pt x="0" y="0"/>
                </a:moveTo>
                <a:lnTo>
                  <a:pt x="2174742" y="0"/>
                </a:lnTo>
                <a:lnTo>
                  <a:pt x="2174742" y="2169305"/>
                </a:lnTo>
                <a:lnTo>
                  <a:pt x="0" y="2169305"/>
                </a:lnTo>
                <a:lnTo>
                  <a:pt x="0" y="0"/>
                </a:lnTo>
                <a:close/>
              </a:path>
            </a:pathLst>
          </a:custGeom>
          <a:blipFill>
            <a:blip r:embed="rId3"/>
            <a:stretch>
              <a:fillRect l="0" t="0" r="0" b="0"/>
            </a:stretch>
          </a:blipFill>
        </p:spPr>
      </p:sp>
      <p:grpSp>
        <p:nvGrpSpPr>
          <p:cNvPr name="Group 5" id="5"/>
          <p:cNvGrpSpPr/>
          <p:nvPr/>
        </p:nvGrpSpPr>
        <p:grpSpPr>
          <a:xfrm rot="0">
            <a:off x="9248185" y="4570976"/>
            <a:ext cx="3072018" cy="3859914"/>
            <a:chOff x="0" y="0"/>
            <a:chExt cx="809091" cy="1016603"/>
          </a:xfrm>
        </p:grpSpPr>
        <p:sp>
          <p:nvSpPr>
            <p:cNvPr name="Freeform 6" id="6"/>
            <p:cNvSpPr/>
            <p:nvPr/>
          </p:nvSpPr>
          <p:spPr>
            <a:xfrm flipH="false" flipV="false" rot="0">
              <a:off x="0" y="0"/>
              <a:ext cx="809091" cy="1016603"/>
            </a:xfrm>
            <a:custGeom>
              <a:avLst/>
              <a:gdLst/>
              <a:ahLst/>
              <a:cxnLst/>
              <a:rect r="r" b="b" t="t" l="l"/>
              <a:pathLst>
                <a:path h="1016603" w="809091">
                  <a:moveTo>
                    <a:pt x="0" y="0"/>
                  </a:moveTo>
                  <a:lnTo>
                    <a:pt x="809091" y="0"/>
                  </a:lnTo>
                  <a:lnTo>
                    <a:pt x="809091" y="1016603"/>
                  </a:lnTo>
                  <a:lnTo>
                    <a:pt x="0" y="1016603"/>
                  </a:lnTo>
                  <a:close/>
                </a:path>
              </a:pathLst>
            </a:custGeom>
            <a:solidFill>
              <a:srgbClr val="495B80"/>
            </a:solidFill>
            <a:ln w="38100" cap="sq">
              <a:solidFill>
                <a:srgbClr val="000000"/>
              </a:solidFill>
              <a:prstDash val="solid"/>
              <a:miter/>
            </a:ln>
          </p:spPr>
        </p:sp>
        <p:sp>
          <p:nvSpPr>
            <p:cNvPr name="TextBox 7" id="7"/>
            <p:cNvSpPr txBox="true"/>
            <p:nvPr/>
          </p:nvSpPr>
          <p:spPr>
            <a:xfrm>
              <a:off x="0" y="-38100"/>
              <a:ext cx="809091" cy="105470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2536942" y="3318534"/>
            <a:ext cx="5204473" cy="4775104"/>
          </a:xfrm>
          <a:custGeom>
            <a:avLst/>
            <a:gdLst/>
            <a:ahLst/>
            <a:cxnLst/>
            <a:rect r="r" b="b" t="t" l="l"/>
            <a:pathLst>
              <a:path h="4775104" w="5204473">
                <a:moveTo>
                  <a:pt x="0" y="0"/>
                </a:moveTo>
                <a:lnTo>
                  <a:pt x="5204473" y="0"/>
                </a:lnTo>
                <a:lnTo>
                  <a:pt x="5204473" y="4775104"/>
                </a:lnTo>
                <a:lnTo>
                  <a:pt x="0" y="4775104"/>
                </a:lnTo>
                <a:lnTo>
                  <a:pt x="0" y="0"/>
                </a:lnTo>
                <a:close/>
              </a:path>
            </a:pathLst>
          </a:custGeom>
          <a:blipFill>
            <a:blip r:embed="rId4"/>
            <a:stretch>
              <a:fillRect l="0" t="0" r="0" b="0"/>
            </a:stretch>
          </a:blipFill>
        </p:spPr>
      </p:sp>
      <p:sp>
        <p:nvSpPr>
          <p:cNvPr name="Freeform 9" id="9"/>
          <p:cNvSpPr/>
          <p:nvPr/>
        </p:nvSpPr>
        <p:spPr>
          <a:xfrm flipH="false" flipV="false" rot="0">
            <a:off x="12682852" y="7025701"/>
            <a:ext cx="3258409" cy="2810378"/>
          </a:xfrm>
          <a:custGeom>
            <a:avLst/>
            <a:gdLst/>
            <a:ahLst/>
            <a:cxnLst/>
            <a:rect r="r" b="b" t="t" l="l"/>
            <a:pathLst>
              <a:path h="2810378" w="3258409">
                <a:moveTo>
                  <a:pt x="0" y="0"/>
                </a:moveTo>
                <a:lnTo>
                  <a:pt x="3258409" y="0"/>
                </a:lnTo>
                <a:lnTo>
                  <a:pt x="3258409" y="2810378"/>
                </a:lnTo>
                <a:lnTo>
                  <a:pt x="0" y="2810378"/>
                </a:lnTo>
                <a:lnTo>
                  <a:pt x="0" y="0"/>
                </a:lnTo>
                <a:close/>
              </a:path>
            </a:pathLst>
          </a:custGeom>
          <a:blipFill>
            <a:blip r:embed="rId5"/>
            <a:stretch>
              <a:fillRect l="0" t="0" r="0" b="0"/>
            </a:stretch>
          </a:blipFill>
        </p:spPr>
      </p:sp>
      <p:grpSp>
        <p:nvGrpSpPr>
          <p:cNvPr name="Group 10" id="10"/>
          <p:cNvGrpSpPr/>
          <p:nvPr/>
        </p:nvGrpSpPr>
        <p:grpSpPr>
          <a:xfrm rot="0">
            <a:off x="5374220" y="5143500"/>
            <a:ext cx="3251294" cy="4114800"/>
            <a:chOff x="0" y="0"/>
            <a:chExt cx="856308" cy="1083733"/>
          </a:xfrm>
        </p:grpSpPr>
        <p:sp>
          <p:nvSpPr>
            <p:cNvPr name="Freeform 11" id="11"/>
            <p:cNvSpPr/>
            <p:nvPr/>
          </p:nvSpPr>
          <p:spPr>
            <a:xfrm flipH="false" flipV="false" rot="0">
              <a:off x="0" y="0"/>
              <a:ext cx="856308" cy="1083733"/>
            </a:xfrm>
            <a:custGeom>
              <a:avLst/>
              <a:gdLst/>
              <a:ahLst/>
              <a:cxnLst/>
              <a:rect r="r" b="b" t="t" l="l"/>
              <a:pathLst>
                <a:path h="1083733" w="856308">
                  <a:moveTo>
                    <a:pt x="0" y="0"/>
                  </a:moveTo>
                  <a:lnTo>
                    <a:pt x="856308" y="0"/>
                  </a:lnTo>
                  <a:lnTo>
                    <a:pt x="856308" y="1083733"/>
                  </a:lnTo>
                  <a:lnTo>
                    <a:pt x="0" y="1083733"/>
                  </a:lnTo>
                  <a:close/>
                </a:path>
              </a:pathLst>
            </a:custGeom>
            <a:solidFill>
              <a:srgbClr val="495B80"/>
            </a:solidFill>
            <a:ln w="38100" cap="sq">
              <a:solidFill>
                <a:srgbClr val="000000"/>
              </a:solidFill>
              <a:prstDash val="solid"/>
              <a:miter/>
            </a:ln>
          </p:spPr>
        </p:sp>
        <p:sp>
          <p:nvSpPr>
            <p:cNvPr name="TextBox 12" id="12"/>
            <p:cNvSpPr txBox="true"/>
            <p:nvPr/>
          </p:nvSpPr>
          <p:spPr>
            <a:xfrm>
              <a:off x="0" y="-38100"/>
              <a:ext cx="856308" cy="1121833"/>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320842" y="3354899"/>
            <a:ext cx="4789896" cy="4492824"/>
          </a:xfrm>
          <a:custGeom>
            <a:avLst/>
            <a:gdLst/>
            <a:ahLst/>
            <a:cxnLst/>
            <a:rect r="r" b="b" t="t" l="l"/>
            <a:pathLst>
              <a:path h="4492824" w="4789896">
                <a:moveTo>
                  <a:pt x="0" y="0"/>
                </a:moveTo>
                <a:lnTo>
                  <a:pt x="4789896" y="0"/>
                </a:lnTo>
                <a:lnTo>
                  <a:pt x="4789896" y="4492824"/>
                </a:lnTo>
                <a:lnTo>
                  <a:pt x="0" y="4492824"/>
                </a:lnTo>
                <a:lnTo>
                  <a:pt x="0" y="0"/>
                </a:lnTo>
                <a:close/>
              </a:path>
            </a:pathLst>
          </a:custGeom>
          <a:blipFill>
            <a:blip r:embed="rId6"/>
            <a:stretch>
              <a:fillRect l="-403" t="0" r="-1314" b="-987"/>
            </a:stretch>
          </a:blipFill>
        </p:spPr>
      </p:sp>
      <p:sp>
        <p:nvSpPr>
          <p:cNvPr name="Freeform 14" id="14"/>
          <p:cNvSpPr/>
          <p:nvPr/>
        </p:nvSpPr>
        <p:spPr>
          <a:xfrm flipH="false" flipV="false" rot="0">
            <a:off x="282742" y="6769556"/>
            <a:ext cx="3334084" cy="2875647"/>
          </a:xfrm>
          <a:custGeom>
            <a:avLst/>
            <a:gdLst/>
            <a:ahLst/>
            <a:cxnLst/>
            <a:rect r="r" b="b" t="t" l="l"/>
            <a:pathLst>
              <a:path h="2875647" w="3334084">
                <a:moveTo>
                  <a:pt x="0" y="0"/>
                </a:moveTo>
                <a:lnTo>
                  <a:pt x="3334084" y="0"/>
                </a:lnTo>
                <a:lnTo>
                  <a:pt x="3334084" y="2875647"/>
                </a:lnTo>
                <a:lnTo>
                  <a:pt x="0" y="2875647"/>
                </a:lnTo>
                <a:lnTo>
                  <a:pt x="0" y="0"/>
                </a:lnTo>
                <a:close/>
              </a:path>
            </a:pathLst>
          </a:custGeom>
          <a:blipFill>
            <a:blip r:embed="rId7"/>
            <a:stretch>
              <a:fillRect l="0" t="0" r="0" b="0"/>
            </a:stretch>
          </a:blipFill>
        </p:spPr>
      </p:sp>
      <p:grpSp>
        <p:nvGrpSpPr>
          <p:cNvPr name="Group 15" id="15"/>
          <p:cNvGrpSpPr/>
          <p:nvPr/>
        </p:nvGrpSpPr>
        <p:grpSpPr>
          <a:xfrm rot="0">
            <a:off x="320842" y="1047750"/>
            <a:ext cx="17635929" cy="2002505"/>
            <a:chOff x="0" y="0"/>
            <a:chExt cx="5112886" cy="580552"/>
          </a:xfrm>
        </p:grpSpPr>
        <p:sp>
          <p:nvSpPr>
            <p:cNvPr name="Freeform 16" id="16"/>
            <p:cNvSpPr/>
            <p:nvPr/>
          </p:nvSpPr>
          <p:spPr>
            <a:xfrm flipH="false" flipV="false" rot="0">
              <a:off x="0" y="0"/>
              <a:ext cx="5112886" cy="580552"/>
            </a:xfrm>
            <a:custGeom>
              <a:avLst/>
              <a:gdLst/>
              <a:ahLst/>
              <a:cxnLst/>
              <a:rect r="r" b="b" t="t" l="l"/>
              <a:pathLst>
                <a:path h="580552" w="5112886">
                  <a:moveTo>
                    <a:pt x="0" y="0"/>
                  </a:moveTo>
                  <a:lnTo>
                    <a:pt x="5112886" y="0"/>
                  </a:lnTo>
                  <a:lnTo>
                    <a:pt x="5112886" y="580552"/>
                  </a:lnTo>
                  <a:lnTo>
                    <a:pt x="0" y="580552"/>
                  </a:lnTo>
                  <a:close/>
                </a:path>
              </a:pathLst>
            </a:custGeom>
            <a:solidFill>
              <a:srgbClr val="495B80"/>
            </a:solidFill>
            <a:ln w="38100" cap="sq">
              <a:solidFill>
                <a:srgbClr val="000000"/>
              </a:solidFill>
              <a:prstDash val="solid"/>
              <a:miter/>
            </a:ln>
          </p:spPr>
        </p:sp>
        <p:sp>
          <p:nvSpPr>
            <p:cNvPr name="TextBox 17" id="17"/>
            <p:cNvSpPr txBox="true"/>
            <p:nvPr/>
          </p:nvSpPr>
          <p:spPr>
            <a:xfrm>
              <a:off x="0" y="-38100"/>
              <a:ext cx="5112886" cy="61865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9086850" y="8849176"/>
            <a:ext cx="3394689" cy="1129120"/>
            <a:chOff x="0" y="0"/>
            <a:chExt cx="4526252" cy="1505493"/>
          </a:xfrm>
        </p:grpSpPr>
        <p:grpSp>
          <p:nvGrpSpPr>
            <p:cNvPr name="Group 19" id="19"/>
            <p:cNvGrpSpPr/>
            <p:nvPr/>
          </p:nvGrpSpPr>
          <p:grpSpPr>
            <a:xfrm rot="0">
              <a:off x="0" y="0"/>
              <a:ext cx="4526252" cy="1505493"/>
              <a:chOff x="0" y="0"/>
              <a:chExt cx="1475523" cy="490779"/>
            </a:xfrm>
          </p:grpSpPr>
          <p:sp>
            <p:nvSpPr>
              <p:cNvPr name="Freeform 20" id="20"/>
              <p:cNvSpPr/>
              <p:nvPr/>
            </p:nvSpPr>
            <p:spPr>
              <a:xfrm flipH="false" flipV="false" rot="0">
                <a:off x="0" y="0"/>
                <a:ext cx="1475523" cy="490779"/>
              </a:xfrm>
              <a:custGeom>
                <a:avLst/>
                <a:gdLst/>
                <a:ahLst/>
                <a:cxnLst/>
                <a:rect r="r" b="b" t="t" l="l"/>
                <a:pathLst>
                  <a:path h="490779" w="1475523">
                    <a:moveTo>
                      <a:pt x="87587" y="0"/>
                    </a:moveTo>
                    <a:lnTo>
                      <a:pt x="1387935" y="0"/>
                    </a:lnTo>
                    <a:cubicBezTo>
                      <a:pt x="1411165" y="0"/>
                      <a:pt x="1433443" y="9228"/>
                      <a:pt x="1449869" y="25654"/>
                    </a:cubicBezTo>
                    <a:cubicBezTo>
                      <a:pt x="1466295" y="42080"/>
                      <a:pt x="1475523" y="64358"/>
                      <a:pt x="1475523" y="87587"/>
                    </a:cubicBezTo>
                    <a:lnTo>
                      <a:pt x="1475523" y="403192"/>
                    </a:lnTo>
                    <a:cubicBezTo>
                      <a:pt x="1475523" y="451565"/>
                      <a:pt x="1436309" y="490779"/>
                      <a:pt x="1387935" y="490779"/>
                    </a:cubicBezTo>
                    <a:lnTo>
                      <a:pt x="87587" y="490779"/>
                    </a:lnTo>
                    <a:cubicBezTo>
                      <a:pt x="39214" y="490779"/>
                      <a:pt x="0" y="451565"/>
                      <a:pt x="0" y="403192"/>
                    </a:cubicBezTo>
                    <a:lnTo>
                      <a:pt x="0" y="87587"/>
                    </a:lnTo>
                    <a:cubicBezTo>
                      <a:pt x="0" y="39214"/>
                      <a:pt x="39214" y="0"/>
                      <a:pt x="87587" y="0"/>
                    </a:cubicBezTo>
                    <a:close/>
                  </a:path>
                </a:pathLst>
              </a:custGeom>
              <a:solidFill>
                <a:srgbClr val="FD7B8B"/>
              </a:solidFill>
              <a:ln w="38100" cap="rnd">
                <a:solidFill>
                  <a:srgbClr val="000000"/>
                </a:solidFill>
                <a:prstDash val="solid"/>
                <a:round/>
              </a:ln>
            </p:spPr>
          </p:sp>
          <p:sp>
            <p:nvSpPr>
              <p:cNvPr name="TextBox 21" id="21"/>
              <p:cNvSpPr txBox="true"/>
              <p:nvPr/>
            </p:nvSpPr>
            <p:spPr>
              <a:xfrm>
                <a:off x="0" y="-38100"/>
                <a:ext cx="1475523" cy="528879"/>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311132" y="193433"/>
              <a:ext cx="4215120" cy="1156727"/>
            </a:xfrm>
            <a:prstGeom prst="rect">
              <a:avLst/>
            </a:prstGeom>
          </p:spPr>
          <p:txBody>
            <a:bodyPr anchor="t" rtlCol="false" tIns="0" lIns="0" bIns="0" rIns="0">
              <a:spAutoFit/>
            </a:bodyPr>
            <a:lstStyle/>
            <a:p>
              <a:pPr algn="l">
                <a:lnSpc>
                  <a:spcPts val="3309"/>
                </a:lnSpc>
              </a:pPr>
              <a:r>
                <a:rPr lang="en-US" sz="3152">
                  <a:solidFill>
                    <a:srgbClr val="FFFFFF"/>
                  </a:solidFill>
                  <a:latin typeface="Sunborn"/>
                  <a:ea typeface="Sunborn"/>
                  <a:cs typeface="Sunborn"/>
                  <a:sym typeface="Sunborn"/>
                </a:rPr>
                <a:t>FINAL </a:t>
              </a:r>
            </a:p>
            <a:p>
              <a:pPr algn="l">
                <a:lnSpc>
                  <a:spcPts val="3309"/>
                </a:lnSpc>
              </a:pPr>
              <a:r>
                <a:rPr lang="en-US" sz="3152">
                  <a:solidFill>
                    <a:srgbClr val="FFFFFF"/>
                  </a:solidFill>
                  <a:latin typeface="Sunborn"/>
                  <a:ea typeface="Sunborn"/>
                  <a:cs typeface="Sunborn"/>
                  <a:sym typeface="Sunborn"/>
                </a:rPr>
                <a:t>ARCHITECTURE</a:t>
              </a:r>
            </a:p>
          </p:txBody>
        </p:sp>
      </p:grpSp>
      <p:sp>
        <p:nvSpPr>
          <p:cNvPr name="Freeform 23" id="23"/>
          <p:cNvSpPr/>
          <p:nvPr/>
        </p:nvSpPr>
        <p:spPr>
          <a:xfrm flipH="false" flipV="false" rot="-5469563">
            <a:off x="5240654" y="6688426"/>
            <a:ext cx="7436840" cy="162258"/>
          </a:xfrm>
          <a:custGeom>
            <a:avLst/>
            <a:gdLst/>
            <a:ahLst/>
            <a:cxnLst/>
            <a:rect r="r" b="b" t="t" l="l"/>
            <a:pathLst>
              <a:path h="162258" w="7436840">
                <a:moveTo>
                  <a:pt x="0" y="0"/>
                </a:moveTo>
                <a:lnTo>
                  <a:pt x="7436840" y="0"/>
                </a:lnTo>
                <a:lnTo>
                  <a:pt x="7436840" y="162259"/>
                </a:lnTo>
                <a:lnTo>
                  <a:pt x="0" y="1622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4" id="24"/>
          <p:cNvGrpSpPr/>
          <p:nvPr/>
        </p:nvGrpSpPr>
        <p:grpSpPr>
          <a:xfrm rot="0">
            <a:off x="5421845" y="3628827"/>
            <a:ext cx="3308444" cy="1129120"/>
            <a:chOff x="0" y="0"/>
            <a:chExt cx="4411258" cy="1505493"/>
          </a:xfrm>
        </p:grpSpPr>
        <p:grpSp>
          <p:nvGrpSpPr>
            <p:cNvPr name="Group 25" id="25"/>
            <p:cNvGrpSpPr/>
            <p:nvPr/>
          </p:nvGrpSpPr>
          <p:grpSpPr>
            <a:xfrm rot="0">
              <a:off x="0" y="0"/>
              <a:ext cx="4411258" cy="1505493"/>
              <a:chOff x="0" y="0"/>
              <a:chExt cx="1438036" cy="490779"/>
            </a:xfrm>
          </p:grpSpPr>
          <p:sp>
            <p:nvSpPr>
              <p:cNvPr name="Freeform 26" id="26"/>
              <p:cNvSpPr/>
              <p:nvPr/>
            </p:nvSpPr>
            <p:spPr>
              <a:xfrm flipH="false" flipV="false" rot="0">
                <a:off x="0" y="0"/>
                <a:ext cx="1438036" cy="490779"/>
              </a:xfrm>
              <a:custGeom>
                <a:avLst/>
                <a:gdLst/>
                <a:ahLst/>
                <a:cxnLst/>
                <a:rect r="r" b="b" t="t" l="l"/>
                <a:pathLst>
                  <a:path h="490779" w="1438036">
                    <a:moveTo>
                      <a:pt x="89871" y="0"/>
                    </a:moveTo>
                    <a:lnTo>
                      <a:pt x="1348165" y="0"/>
                    </a:lnTo>
                    <a:cubicBezTo>
                      <a:pt x="1397799" y="0"/>
                      <a:pt x="1438036" y="40236"/>
                      <a:pt x="1438036" y="89871"/>
                    </a:cubicBezTo>
                    <a:lnTo>
                      <a:pt x="1438036" y="400909"/>
                    </a:lnTo>
                    <a:cubicBezTo>
                      <a:pt x="1438036" y="424744"/>
                      <a:pt x="1428567" y="447603"/>
                      <a:pt x="1411713" y="464457"/>
                    </a:cubicBezTo>
                    <a:cubicBezTo>
                      <a:pt x="1394859" y="481311"/>
                      <a:pt x="1372000" y="490779"/>
                      <a:pt x="1348165" y="490779"/>
                    </a:cubicBezTo>
                    <a:lnTo>
                      <a:pt x="89871" y="490779"/>
                    </a:lnTo>
                    <a:cubicBezTo>
                      <a:pt x="66035" y="490779"/>
                      <a:pt x="43176" y="481311"/>
                      <a:pt x="26322" y="464457"/>
                    </a:cubicBezTo>
                    <a:cubicBezTo>
                      <a:pt x="9468" y="447603"/>
                      <a:pt x="0" y="424744"/>
                      <a:pt x="0" y="400909"/>
                    </a:cubicBezTo>
                    <a:lnTo>
                      <a:pt x="0" y="89871"/>
                    </a:lnTo>
                    <a:cubicBezTo>
                      <a:pt x="0" y="66035"/>
                      <a:pt x="9468" y="43176"/>
                      <a:pt x="26322" y="26322"/>
                    </a:cubicBezTo>
                    <a:cubicBezTo>
                      <a:pt x="43176" y="9468"/>
                      <a:pt x="66035" y="0"/>
                      <a:pt x="89871" y="0"/>
                    </a:cubicBezTo>
                    <a:close/>
                  </a:path>
                </a:pathLst>
              </a:custGeom>
              <a:solidFill>
                <a:srgbClr val="FD7B8B"/>
              </a:solidFill>
              <a:ln w="38100" cap="rnd">
                <a:solidFill>
                  <a:srgbClr val="000000"/>
                </a:solidFill>
                <a:prstDash val="solid"/>
                <a:round/>
              </a:ln>
            </p:spPr>
          </p:sp>
          <p:sp>
            <p:nvSpPr>
              <p:cNvPr name="TextBox 27" id="27"/>
              <p:cNvSpPr txBox="true"/>
              <p:nvPr/>
            </p:nvSpPr>
            <p:spPr>
              <a:xfrm>
                <a:off x="0" y="-38100"/>
                <a:ext cx="1438036" cy="528879"/>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69810" y="193433"/>
              <a:ext cx="4108031" cy="1156727"/>
            </a:xfrm>
            <a:prstGeom prst="rect">
              <a:avLst/>
            </a:prstGeom>
          </p:spPr>
          <p:txBody>
            <a:bodyPr anchor="t" rtlCol="false" tIns="0" lIns="0" bIns="0" rIns="0">
              <a:spAutoFit/>
            </a:bodyPr>
            <a:lstStyle/>
            <a:p>
              <a:pPr algn="l">
                <a:lnSpc>
                  <a:spcPts val="3309"/>
                </a:lnSpc>
              </a:pPr>
              <a:r>
                <a:rPr lang="en-US" sz="3152">
                  <a:solidFill>
                    <a:srgbClr val="FFFFFF"/>
                  </a:solidFill>
                  <a:latin typeface="Sunborn"/>
                  <a:ea typeface="Sunborn"/>
                  <a:cs typeface="Sunborn"/>
                  <a:sym typeface="Sunborn"/>
                </a:rPr>
                <a:t>TRIAL </a:t>
              </a:r>
            </a:p>
            <a:p>
              <a:pPr algn="l">
                <a:lnSpc>
                  <a:spcPts val="3309"/>
                </a:lnSpc>
              </a:pPr>
              <a:r>
                <a:rPr lang="en-US" sz="3152">
                  <a:solidFill>
                    <a:srgbClr val="FFFFFF"/>
                  </a:solidFill>
                  <a:latin typeface="Sunborn"/>
                  <a:ea typeface="Sunborn"/>
                  <a:cs typeface="Sunborn"/>
                  <a:sym typeface="Sunborn"/>
                </a:rPr>
                <a:t>ARCHITECTURE</a:t>
              </a:r>
            </a:p>
          </p:txBody>
        </p:sp>
      </p:grpSp>
      <p:sp>
        <p:nvSpPr>
          <p:cNvPr name="TextBox 29" id="29"/>
          <p:cNvSpPr txBox="true"/>
          <p:nvPr/>
        </p:nvSpPr>
        <p:spPr>
          <a:xfrm rot="0">
            <a:off x="536198" y="1118241"/>
            <a:ext cx="17205217" cy="1736725"/>
          </a:xfrm>
          <a:prstGeom prst="rect">
            <a:avLst/>
          </a:prstGeom>
        </p:spPr>
        <p:txBody>
          <a:bodyPr anchor="t" rtlCol="false" tIns="0" lIns="0" bIns="0" rIns="0">
            <a:spAutoFit/>
          </a:bodyPr>
          <a:lstStyle/>
          <a:p>
            <a:pPr algn="just">
              <a:lnSpc>
                <a:spcPts val="3500"/>
              </a:lnSpc>
              <a:spcBef>
                <a:spcPct val="0"/>
              </a:spcBef>
            </a:pPr>
            <a:r>
              <a:rPr lang="en-US" sz="2500">
                <a:solidFill>
                  <a:srgbClr val="FFFFFF"/>
                </a:solidFill>
                <a:latin typeface="Quicksand"/>
                <a:ea typeface="Quicksand"/>
                <a:cs typeface="Quicksand"/>
                <a:sym typeface="Quicksand"/>
              </a:rPr>
              <a:t>For the image reconstruction task, the model uses a shared </a:t>
            </a:r>
            <a:r>
              <a:rPr lang="en-US" b="true" sz="2500">
                <a:solidFill>
                  <a:srgbClr val="FFFFFF"/>
                </a:solidFill>
                <a:latin typeface="Quicksand Bold"/>
                <a:ea typeface="Quicksand Bold"/>
                <a:cs typeface="Quicksand Bold"/>
                <a:sym typeface="Quicksand Bold"/>
              </a:rPr>
              <a:t>ResNet50 encoder </a:t>
            </a:r>
            <a:r>
              <a:rPr lang="en-US" sz="2500">
                <a:solidFill>
                  <a:srgbClr val="FFFFFF"/>
                </a:solidFill>
                <a:latin typeface="Quicksand"/>
                <a:ea typeface="Quicksand"/>
                <a:cs typeface="Quicksand"/>
                <a:sym typeface="Quicksand"/>
              </a:rPr>
              <a:t>to extract features from both frontal and lateral images, which are then concatenated into a </a:t>
            </a:r>
            <a:r>
              <a:rPr lang="en-US" b="true" sz="2500">
                <a:solidFill>
                  <a:srgbClr val="FFFFFF"/>
                </a:solidFill>
                <a:latin typeface="Quicksand Bold"/>
                <a:ea typeface="Quicksand Bold"/>
                <a:cs typeface="Quicksand Bold"/>
                <a:sym typeface="Quicksand Bold"/>
              </a:rPr>
              <a:t>4096-dimensional vector</a:t>
            </a:r>
            <a:r>
              <a:rPr lang="en-US" sz="2500">
                <a:solidFill>
                  <a:srgbClr val="FFFFFF"/>
                </a:solidFill>
                <a:latin typeface="Quicksand"/>
                <a:ea typeface="Quicksand"/>
                <a:cs typeface="Quicksand"/>
                <a:sym typeface="Quicksand"/>
              </a:rPr>
              <a:t>. This vector is processed by a Variational Autoencoder (</a:t>
            </a:r>
            <a:r>
              <a:rPr lang="en-US" b="true" sz="2500">
                <a:solidFill>
                  <a:srgbClr val="FFFFFF"/>
                </a:solidFill>
                <a:latin typeface="Quicksand Bold"/>
                <a:ea typeface="Quicksand Bold"/>
                <a:cs typeface="Quicksand Bold"/>
                <a:sym typeface="Quicksand Bold"/>
              </a:rPr>
              <a:t>VAE</a:t>
            </a:r>
            <a:r>
              <a:rPr lang="en-US" sz="2500">
                <a:solidFill>
                  <a:srgbClr val="FFFFFF"/>
                </a:solidFill>
                <a:latin typeface="Quicksand"/>
                <a:ea typeface="Quicksand"/>
                <a:cs typeface="Quicksand"/>
                <a:sym typeface="Quicksand"/>
              </a:rPr>
              <a:t>) to map the features into a latent space and reconstruct the images, ensuring that both the frontal and lateral views are faithfully reproduced.</a:t>
            </a:r>
          </a:p>
        </p:txBody>
      </p:sp>
      <p:sp>
        <p:nvSpPr>
          <p:cNvPr name="TextBox 30" id="30"/>
          <p:cNvSpPr txBox="true"/>
          <p:nvPr/>
        </p:nvSpPr>
        <p:spPr>
          <a:xfrm rot="0">
            <a:off x="5540058" y="5259492"/>
            <a:ext cx="2919618" cy="3854242"/>
          </a:xfrm>
          <a:prstGeom prst="rect">
            <a:avLst/>
          </a:prstGeom>
        </p:spPr>
        <p:txBody>
          <a:bodyPr anchor="t" rtlCol="false" tIns="0" lIns="0" bIns="0" rIns="0">
            <a:spAutoFit/>
          </a:bodyPr>
          <a:lstStyle/>
          <a:p>
            <a:pPr algn="l">
              <a:lnSpc>
                <a:spcPts val="2811"/>
              </a:lnSpc>
              <a:spcBef>
                <a:spcPct val="0"/>
              </a:spcBef>
            </a:pPr>
            <a:r>
              <a:rPr lang="en-US" sz="2008">
                <a:solidFill>
                  <a:srgbClr val="FFFFFF"/>
                </a:solidFill>
                <a:latin typeface="Quicksand"/>
                <a:ea typeface="Quicksand"/>
                <a:cs typeface="Quicksand"/>
                <a:sym typeface="Quicksand"/>
              </a:rPr>
              <a:t>Initially, we experimented with a unified approach that combined losses from all three branches simultaneously. However, adapting the latent space to meet the diverse requirements compromised the reconstruction quality.</a:t>
            </a:r>
          </a:p>
        </p:txBody>
      </p:sp>
      <p:sp>
        <p:nvSpPr>
          <p:cNvPr name="TextBox 31" id="31"/>
          <p:cNvSpPr txBox="true"/>
          <p:nvPr/>
        </p:nvSpPr>
        <p:spPr>
          <a:xfrm rot="0">
            <a:off x="9400585" y="4729372"/>
            <a:ext cx="2919618" cy="3501817"/>
          </a:xfrm>
          <a:prstGeom prst="rect">
            <a:avLst/>
          </a:prstGeom>
        </p:spPr>
        <p:txBody>
          <a:bodyPr anchor="t" rtlCol="false" tIns="0" lIns="0" bIns="0" rIns="0">
            <a:spAutoFit/>
          </a:bodyPr>
          <a:lstStyle/>
          <a:p>
            <a:pPr algn="l">
              <a:lnSpc>
                <a:spcPts val="2811"/>
              </a:lnSpc>
              <a:spcBef>
                <a:spcPct val="0"/>
              </a:spcBef>
            </a:pPr>
            <a:r>
              <a:rPr lang="en-US" sz="2008">
                <a:solidFill>
                  <a:srgbClr val="FFFFFF"/>
                </a:solidFill>
                <a:latin typeface="Quicksand"/>
                <a:ea typeface="Quicksand"/>
                <a:cs typeface="Quicksand"/>
                <a:sym typeface="Quicksand"/>
              </a:rPr>
              <a:t>The final design employs a dual-branch architecture where the reconstruction VAE operates independently, ensuring high-fidelity image reconstructions without interfering with the other model functionalities.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6230600" cy="8229600"/>
            <a:chOff x="0" y="0"/>
            <a:chExt cx="4274726" cy="2167467"/>
          </a:xfrm>
        </p:grpSpPr>
        <p:sp>
          <p:nvSpPr>
            <p:cNvPr name="Freeform 4" id="4"/>
            <p:cNvSpPr/>
            <p:nvPr/>
          </p:nvSpPr>
          <p:spPr>
            <a:xfrm flipH="false" flipV="false" rot="0">
              <a:off x="0" y="0"/>
              <a:ext cx="4274726" cy="2167467"/>
            </a:xfrm>
            <a:custGeom>
              <a:avLst/>
              <a:gdLst/>
              <a:ahLst/>
              <a:cxnLst/>
              <a:rect r="r" b="b" t="t" l="l"/>
              <a:pathLst>
                <a:path h="2167467" w="4274726">
                  <a:moveTo>
                    <a:pt x="0" y="0"/>
                  </a:moveTo>
                  <a:lnTo>
                    <a:pt x="4274726" y="0"/>
                  </a:lnTo>
                  <a:lnTo>
                    <a:pt x="4274726" y="2167467"/>
                  </a:lnTo>
                  <a:lnTo>
                    <a:pt x="0" y="2167467"/>
                  </a:lnTo>
                  <a:close/>
                </a:path>
              </a:pathLst>
            </a:custGeom>
            <a:solidFill>
              <a:srgbClr val="495B80"/>
            </a:solidFill>
            <a:ln w="38100" cap="sq">
              <a:solidFill>
                <a:srgbClr val="000000"/>
              </a:solidFill>
              <a:prstDash val="solid"/>
              <a:miter/>
            </a:ln>
          </p:spPr>
        </p:sp>
        <p:sp>
          <p:nvSpPr>
            <p:cNvPr name="TextBox 5" id="5"/>
            <p:cNvSpPr txBox="true"/>
            <p:nvPr/>
          </p:nvSpPr>
          <p:spPr>
            <a:xfrm>
              <a:off x="0" y="-38100"/>
              <a:ext cx="4274726"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97490" y="5976028"/>
            <a:ext cx="7306477" cy="2803979"/>
            <a:chOff x="0" y="0"/>
            <a:chExt cx="2391531" cy="917789"/>
          </a:xfrm>
        </p:grpSpPr>
        <p:sp>
          <p:nvSpPr>
            <p:cNvPr name="Freeform 7" id="7"/>
            <p:cNvSpPr/>
            <p:nvPr/>
          </p:nvSpPr>
          <p:spPr>
            <a:xfrm flipH="false" flipV="false" rot="0">
              <a:off x="0" y="0"/>
              <a:ext cx="2391531" cy="917789"/>
            </a:xfrm>
            <a:custGeom>
              <a:avLst/>
              <a:gdLst/>
              <a:ahLst/>
              <a:cxnLst/>
              <a:rect r="r" b="b" t="t" l="l"/>
              <a:pathLst>
                <a:path h="917789" w="2391531">
                  <a:moveTo>
                    <a:pt x="54039" y="0"/>
                  </a:moveTo>
                  <a:lnTo>
                    <a:pt x="2337492" y="0"/>
                  </a:lnTo>
                  <a:cubicBezTo>
                    <a:pt x="2351824" y="0"/>
                    <a:pt x="2365569" y="5693"/>
                    <a:pt x="2375703" y="15828"/>
                  </a:cubicBezTo>
                  <a:cubicBezTo>
                    <a:pt x="2385838" y="25962"/>
                    <a:pt x="2391531" y="39707"/>
                    <a:pt x="2391531" y="54039"/>
                  </a:cubicBezTo>
                  <a:lnTo>
                    <a:pt x="2391531" y="863749"/>
                  </a:lnTo>
                  <a:cubicBezTo>
                    <a:pt x="2391531" y="893594"/>
                    <a:pt x="2367337" y="917789"/>
                    <a:pt x="2337492" y="917789"/>
                  </a:cubicBezTo>
                  <a:lnTo>
                    <a:pt x="54039" y="917789"/>
                  </a:lnTo>
                  <a:cubicBezTo>
                    <a:pt x="24194" y="917789"/>
                    <a:pt x="0" y="893594"/>
                    <a:pt x="0" y="863749"/>
                  </a:cubicBezTo>
                  <a:lnTo>
                    <a:pt x="0" y="54039"/>
                  </a:lnTo>
                  <a:cubicBezTo>
                    <a:pt x="0" y="24194"/>
                    <a:pt x="24194" y="0"/>
                    <a:pt x="54039" y="0"/>
                  </a:cubicBezTo>
                  <a:close/>
                </a:path>
              </a:pathLst>
            </a:custGeom>
            <a:solidFill>
              <a:srgbClr val="FD7B8B"/>
            </a:solidFill>
            <a:ln w="38100" cap="rnd">
              <a:solidFill>
                <a:srgbClr val="000000"/>
              </a:solidFill>
              <a:prstDash val="solid"/>
              <a:round/>
            </a:ln>
          </p:spPr>
        </p:sp>
        <p:sp>
          <p:nvSpPr>
            <p:cNvPr name="TextBox 8" id="8"/>
            <p:cNvSpPr txBox="true"/>
            <p:nvPr/>
          </p:nvSpPr>
          <p:spPr>
            <a:xfrm>
              <a:off x="0" y="-38100"/>
              <a:ext cx="2391531" cy="955889"/>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2103998">
            <a:off x="14975093" y="219946"/>
            <a:ext cx="3457815" cy="2057400"/>
          </a:xfrm>
          <a:custGeom>
            <a:avLst/>
            <a:gdLst/>
            <a:ahLst/>
            <a:cxnLst/>
            <a:rect r="r" b="b" t="t" l="l"/>
            <a:pathLst>
              <a:path h="2057400" w="3457815">
                <a:moveTo>
                  <a:pt x="0" y="0"/>
                </a:moveTo>
                <a:lnTo>
                  <a:pt x="3457815" y="0"/>
                </a:lnTo>
                <a:lnTo>
                  <a:pt x="3457815" y="2057400"/>
                </a:lnTo>
                <a:lnTo>
                  <a:pt x="0" y="20574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9397524" y="5976028"/>
            <a:ext cx="7306477" cy="2803979"/>
            <a:chOff x="0" y="0"/>
            <a:chExt cx="2391531" cy="917789"/>
          </a:xfrm>
        </p:grpSpPr>
        <p:sp>
          <p:nvSpPr>
            <p:cNvPr name="Freeform 11" id="11"/>
            <p:cNvSpPr/>
            <p:nvPr/>
          </p:nvSpPr>
          <p:spPr>
            <a:xfrm flipH="false" flipV="false" rot="0">
              <a:off x="0" y="0"/>
              <a:ext cx="2391531" cy="917789"/>
            </a:xfrm>
            <a:custGeom>
              <a:avLst/>
              <a:gdLst/>
              <a:ahLst/>
              <a:cxnLst/>
              <a:rect r="r" b="b" t="t" l="l"/>
              <a:pathLst>
                <a:path h="917789" w="2391531">
                  <a:moveTo>
                    <a:pt x="54039" y="0"/>
                  </a:moveTo>
                  <a:lnTo>
                    <a:pt x="2337492" y="0"/>
                  </a:lnTo>
                  <a:cubicBezTo>
                    <a:pt x="2351824" y="0"/>
                    <a:pt x="2365569" y="5693"/>
                    <a:pt x="2375703" y="15828"/>
                  </a:cubicBezTo>
                  <a:cubicBezTo>
                    <a:pt x="2385838" y="25962"/>
                    <a:pt x="2391531" y="39707"/>
                    <a:pt x="2391531" y="54039"/>
                  </a:cubicBezTo>
                  <a:lnTo>
                    <a:pt x="2391531" y="863749"/>
                  </a:lnTo>
                  <a:cubicBezTo>
                    <a:pt x="2391531" y="893594"/>
                    <a:pt x="2367337" y="917789"/>
                    <a:pt x="2337492" y="917789"/>
                  </a:cubicBezTo>
                  <a:lnTo>
                    <a:pt x="54039" y="917789"/>
                  </a:lnTo>
                  <a:cubicBezTo>
                    <a:pt x="24194" y="917789"/>
                    <a:pt x="0" y="893594"/>
                    <a:pt x="0" y="863749"/>
                  </a:cubicBezTo>
                  <a:lnTo>
                    <a:pt x="0" y="54039"/>
                  </a:lnTo>
                  <a:cubicBezTo>
                    <a:pt x="0" y="24194"/>
                    <a:pt x="24194" y="0"/>
                    <a:pt x="54039" y="0"/>
                  </a:cubicBezTo>
                  <a:close/>
                </a:path>
              </a:pathLst>
            </a:custGeom>
            <a:solidFill>
              <a:srgbClr val="FD7B8B"/>
            </a:solidFill>
            <a:ln w="38100" cap="rnd">
              <a:solidFill>
                <a:srgbClr val="000000"/>
              </a:solidFill>
              <a:prstDash val="solid"/>
              <a:round/>
            </a:ln>
          </p:spPr>
        </p:sp>
        <p:sp>
          <p:nvSpPr>
            <p:cNvPr name="TextBox 12" id="12"/>
            <p:cNvSpPr txBox="true"/>
            <p:nvPr/>
          </p:nvSpPr>
          <p:spPr>
            <a:xfrm>
              <a:off x="0" y="-38100"/>
              <a:ext cx="2391531" cy="955889"/>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2972747" y="1560654"/>
            <a:ext cx="12338194" cy="1184278"/>
          </a:xfrm>
          <a:prstGeom prst="rect">
            <a:avLst/>
          </a:prstGeom>
        </p:spPr>
        <p:txBody>
          <a:bodyPr anchor="t" rtlCol="false" tIns="0" lIns="0" bIns="0" rIns="0">
            <a:spAutoFit/>
          </a:bodyPr>
          <a:lstStyle/>
          <a:p>
            <a:pPr algn="ctr">
              <a:lnSpc>
                <a:spcPts val="9200"/>
              </a:lnSpc>
            </a:pPr>
            <a:r>
              <a:rPr lang="en-US" sz="8000">
                <a:solidFill>
                  <a:srgbClr val="FFFFFF"/>
                </a:solidFill>
                <a:latin typeface="Sunborn"/>
                <a:ea typeface="Sunborn"/>
                <a:cs typeface="Sunborn"/>
                <a:sym typeface="Sunborn"/>
              </a:rPr>
              <a:t>CONCLUSIONS</a:t>
            </a:r>
          </a:p>
        </p:txBody>
      </p:sp>
      <p:sp>
        <p:nvSpPr>
          <p:cNvPr name="TextBox 14" id="14"/>
          <p:cNvSpPr txBox="true"/>
          <p:nvPr/>
        </p:nvSpPr>
        <p:spPr>
          <a:xfrm rot="0">
            <a:off x="9701644" y="6303191"/>
            <a:ext cx="6698236" cy="2092503"/>
          </a:xfrm>
          <a:prstGeom prst="rect">
            <a:avLst/>
          </a:prstGeom>
        </p:spPr>
        <p:txBody>
          <a:bodyPr anchor="t" rtlCol="false" tIns="0" lIns="0" bIns="0" rIns="0">
            <a:spAutoFit/>
          </a:bodyPr>
          <a:lstStyle/>
          <a:p>
            <a:pPr algn="just" marL="0" indent="0" lvl="0">
              <a:lnSpc>
                <a:spcPts val="3315"/>
              </a:lnSpc>
              <a:spcBef>
                <a:spcPct val="0"/>
              </a:spcBef>
            </a:pPr>
            <a:r>
              <a:rPr lang="en-US" b="true" sz="2367">
                <a:solidFill>
                  <a:srgbClr val="FFFFFF"/>
                </a:solidFill>
                <a:latin typeface="Quicksand Bold"/>
                <a:ea typeface="Quicksand Bold"/>
                <a:cs typeface="Quicksand Bold"/>
                <a:sym typeface="Quicksand Bold"/>
              </a:rPr>
              <a:t>Using feature extractors with more parameters, running additional epochs, and applying further refinements could significantly improve the construction of the latent space.</a:t>
            </a:r>
          </a:p>
        </p:txBody>
      </p:sp>
      <p:sp>
        <p:nvSpPr>
          <p:cNvPr name="TextBox 15" id="15"/>
          <p:cNvSpPr txBox="true"/>
          <p:nvPr/>
        </p:nvSpPr>
        <p:spPr>
          <a:xfrm rot="0">
            <a:off x="3133298" y="2878137"/>
            <a:ext cx="12017092" cy="1847554"/>
          </a:xfrm>
          <a:prstGeom prst="rect">
            <a:avLst/>
          </a:prstGeom>
        </p:spPr>
        <p:txBody>
          <a:bodyPr anchor="t" rtlCol="false" tIns="0" lIns="0" bIns="0" rIns="0">
            <a:spAutoFit/>
          </a:bodyPr>
          <a:lstStyle/>
          <a:p>
            <a:pPr algn="just">
              <a:lnSpc>
                <a:spcPts val="3691"/>
              </a:lnSpc>
              <a:spcBef>
                <a:spcPct val="0"/>
              </a:spcBef>
            </a:pPr>
            <a:r>
              <a:rPr lang="en-US" sz="2636">
                <a:solidFill>
                  <a:srgbClr val="FFFFFF"/>
                </a:solidFill>
                <a:latin typeface="Quicksand"/>
                <a:ea typeface="Quicksand"/>
                <a:cs typeface="Quicksand"/>
                <a:sym typeface="Quicksand"/>
              </a:rPr>
              <a:t>This study would undoubtedly benefit from a better dataset: one with more images, higher quality, greater consistency, and above all, more standardized and problem-specific labels/findings, ensuring deeper and less ‘noisy’ knowledge of the surrounding environment.</a:t>
            </a:r>
          </a:p>
        </p:txBody>
      </p:sp>
      <p:sp>
        <p:nvSpPr>
          <p:cNvPr name="TextBox 16" id="16"/>
          <p:cNvSpPr txBox="true"/>
          <p:nvPr/>
        </p:nvSpPr>
        <p:spPr>
          <a:xfrm rot="0">
            <a:off x="7029891" y="5333531"/>
            <a:ext cx="4223906" cy="348615"/>
          </a:xfrm>
          <a:prstGeom prst="rect">
            <a:avLst/>
          </a:prstGeom>
        </p:spPr>
        <p:txBody>
          <a:bodyPr anchor="t" rtlCol="false" tIns="0" lIns="0" bIns="0" rIns="0">
            <a:spAutoFit/>
          </a:bodyPr>
          <a:lstStyle/>
          <a:p>
            <a:pPr algn="ctr">
              <a:lnSpc>
                <a:spcPts val="2760"/>
              </a:lnSpc>
            </a:pPr>
            <a:r>
              <a:rPr lang="en-US" sz="2400">
                <a:solidFill>
                  <a:srgbClr val="FFFFFF"/>
                </a:solidFill>
                <a:latin typeface="Sunborn"/>
                <a:ea typeface="Sunborn"/>
                <a:cs typeface="Sunborn"/>
                <a:sym typeface="Sunborn"/>
              </a:rPr>
              <a:t>FUTURE DEVELOPMENTS</a:t>
            </a:r>
          </a:p>
        </p:txBody>
      </p:sp>
      <p:sp>
        <p:nvSpPr>
          <p:cNvPr name="TextBox 17" id="17"/>
          <p:cNvSpPr txBox="true"/>
          <p:nvPr/>
        </p:nvSpPr>
        <p:spPr>
          <a:xfrm rot="0">
            <a:off x="2001345" y="6159048"/>
            <a:ext cx="6698767" cy="2390314"/>
          </a:xfrm>
          <a:prstGeom prst="rect">
            <a:avLst/>
          </a:prstGeom>
        </p:spPr>
        <p:txBody>
          <a:bodyPr anchor="t" rtlCol="false" tIns="0" lIns="0" bIns="0" rIns="0">
            <a:spAutoFit/>
          </a:bodyPr>
          <a:lstStyle/>
          <a:p>
            <a:pPr algn="just" marL="0" indent="0" lvl="0">
              <a:lnSpc>
                <a:spcPts val="3175"/>
              </a:lnSpc>
              <a:spcBef>
                <a:spcPct val="0"/>
              </a:spcBef>
            </a:pPr>
            <a:r>
              <a:rPr lang="en-US" b="true" sz="2268">
                <a:solidFill>
                  <a:srgbClr val="FFFFFF"/>
                </a:solidFill>
                <a:latin typeface="Quicksand Bold"/>
                <a:ea typeface="Quicksand Bold"/>
                <a:cs typeface="Quicksand Bold"/>
                <a:sym typeface="Quicksand Bold"/>
              </a:rPr>
              <a:t>Integrating transformers closer to the state of the art—such as DeepSeek., LLaMA, or models like BIOGPT (a GPT-2 variant fine-tuned for the medical domain) would be an excellent strategy for enhancing the prediction of specialized medical terminology.</a:t>
            </a:r>
          </a:p>
        </p:txBody>
      </p:sp>
      <p:sp>
        <p:nvSpPr>
          <p:cNvPr name="Freeform 18" id="18"/>
          <p:cNvSpPr/>
          <p:nvPr/>
        </p:nvSpPr>
        <p:spPr>
          <a:xfrm flipH="false" flipV="false" rot="-1124786">
            <a:off x="-121471" y="-351322"/>
            <a:ext cx="3171937" cy="3199937"/>
          </a:xfrm>
          <a:custGeom>
            <a:avLst/>
            <a:gdLst/>
            <a:ahLst/>
            <a:cxnLst/>
            <a:rect r="r" b="b" t="t" l="l"/>
            <a:pathLst>
              <a:path h="3199937" w="3171937">
                <a:moveTo>
                  <a:pt x="0" y="0"/>
                </a:moveTo>
                <a:lnTo>
                  <a:pt x="3171937" y="0"/>
                </a:lnTo>
                <a:lnTo>
                  <a:pt x="3171937" y="3199936"/>
                </a:lnTo>
                <a:lnTo>
                  <a:pt x="0" y="3199936"/>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230099">
            <a:off x="7715250" y="1563242"/>
            <a:ext cx="9544050" cy="7695058"/>
            <a:chOff x="0" y="0"/>
            <a:chExt cx="2513659" cy="2026682"/>
          </a:xfrm>
        </p:grpSpPr>
        <p:sp>
          <p:nvSpPr>
            <p:cNvPr name="Freeform 4" id="4"/>
            <p:cNvSpPr/>
            <p:nvPr/>
          </p:nvSpPr>
          <p:spPr>
            <a:xfrm flipH="false" flipV="false" rot="0">
              <a:off x="0" y="0"/>
              <a:ext cx="2513659" cy="2026682"/>
            </a:xfrm>
            <a:custGeom>
              <a:avLst/>
              <a:gdLst/>
              <a:ahLst/>
              <a:cxnLst/>
              <a:rect r="r" b="b" t="t" l="l"/>
              <a:pathLst>
                <a:path h="2026682" w="2513659">
                  <a:moveTo>
                    <a:pt x="0" y="0"/>
                  </a:moveTo>
                  <a:lnTo>
                    <a:pt x="2513659" y="0"/>
                  </a:lnTo>
                  <a:lnTo>
                    <a:pt x="2513659" y="2026682"/>
                  </a:lnTo>
                  <a:lnTo>
                    <a:pt x="0" y="2026682"/>
                  </a:lnTo>
                  <a:close/>
                </a:path>
              </a:pathLst>
            </a:custGeom>
            <a:solidFill>
              <a:srgbClr val="495B80"/>
            </a:solidFill>
            <a:ln w="38100" cap="sq">
              <a:solidFill>
                <a:srgbClr val="000000"/>
              </a:solidFill>
              <a:prstDash val="solid"/>
              <a:miter/>
            </a:ln>
          </p:spPr>
        </p:sp>
        <p:sp>
          <p:nvSpPr>
            <p:cNvPr name="TextBox 5" id="5"/>
            <p:cNvSpPr txBox="true"/>
            <p:nvPr/>
          </p:nvSpPr>
          <p:spPr>
            <a:xfrm>
              <a:off x="0" y="-38100"/>
              <a:ext cx="2513659" cy="206478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30099">
            <a:off x="9166435" y="7097428"/>
            <a:ext cx="6321501" cy="1403098"/>
            <a:chOff x="0" y="0"/>
            <a:chExt cx="1879724" cy="417217"/>
          </a:xfrm>
        </p:grpSpPr>
        <p:sp>
          <p:nvSpPr>
            <p:cNvPr name="Freeform 7" id="7"/>
            <p:cNvSpPr/>
            <p:nvPr/>
          </p:nvSpPr>
          <p:spPr>
            <a:xfrm flipH="false" flipV="false" rot="0">
              <a:off x="0" y="0"/>
              <a:ext cx="1879724" cy="417217"/>
            </a:xfrm>
            <a:custGeom>
              <a:avLst/>
              <a:gdLst/>
              <a:ahLst/>
              <a:cxnLst/>
              <a:rect r="r" b="b" t="t" l="l"/>
              <a:pathLst>
                <a:path h="417217" w="1879724">
                  <a:moveTo>
                    <a:pt x="62460" y="0"/>
                  </a:moveTo>
                  <a:lnTo>
                    <a:pt x="1817265" y="0"/>
                  </a:lnTo>
                  <a:cubicBezTo>
                    <a:pt x="1851760" y="0"/>
                    <a:pt x="1879724" y="27964"/>
                    <a:pt x="1879724" y="62460"/>
                  </a:cubicBezTo>
                  <a:lnTo>
                    <a:pt x="1879724" y="354757"/>
                  </a:lnTo>
                  <a:cubicBezTo>
                    <a:pt x="1879724" y="389253"/>
                    <a:pt x="1851760" y="417217"/>
                    <a:pt x="1817265" y="417217"/>
                  </a:cubicBezTo>
                  <a:lnTo>
                    <a:pt x="62460" y="417217"/>
                  </a:lnTo>
                  <a:cubicBezTo>
                    <a:pt x="27964" y="417217"/>
                    <a:pt x="0" y="389253"/>
                    <a:pt x="0" y="354757"/>
                  </a:cubicBezTo>
                  <a:lnTo>
                    <a:pt x="0" y="62460"/>
                  </a:lnTo>
                  <a:cubicBezTo>
                    <a:pt x="0" y="27964"/>
                    <a:pt x="27964" y="0"/>
                    <a:pt x="62460" y="0"/>
                  </a:cubicBezTo>
                  <a:close/>
                </a:path>
              </a:pathLst>
            </a:custGeom>
            <a:solidFill>
              <a:srgbClr val="FD7B8B"/>
            </a:solidFill>
            <a:ln w="38100" cap="rnd">
              <a:solidFill>
                <a:srgbClr val="000000"/>
              </a:solidFill>
              <a:prstDash val="solid"/>
              <a:round/>
            </a:ln>
          </p:spPr>
        </p:sp>
        <p:sp>
          <p:nvSpPr>
            <p:cNvPr name="TextBox 8" id="8"/>
            <p:cNvSpPr txBox="true"/>
            <p:nvPr/>
          </p:nvSpPr>
          <p:spPr>
            <a:xfrm>
              <a:off x="0" y="-38100"/>
              <a:ext cx="1879724" cy="455317"/>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1191745">
            <a:off x="14048135" y="859552"/>
            <a:ext cx="3457815" cy="2057400"/>
          </a:xfrm>
          <a:custGeom>
            <a:avLst/>
            <a:gdLst/>
            <a:ahLst/>
            <a:cxnLst/>
            <a:rect r="r" b="b" t="t" l="l"/>
            <a:pathLst>
              <a:path h="2057400" w="3457815">
                <a:moveTo>
                  <a:pt x="0" y="0"/>
                </a:moveTo>
                <a:lnTo>
                  <a:pt x="3457815" y="0"/>
                </a:lnTo>
                <a:lnTo>
                  <a:pt x="3457815" y="2057400"/>
                </a:lnTo>
                <a:lnTo>
                  <a:pt x="0" y="20574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381583" y="-476603"/>
            <a:ext cx="5403378" cy="5451075"/>
          </a:xfrm>
          <a:custGeom>
            <a:avLst/>
            <a:gdLst/>
            <a:ahLst/>
            <a:cxnLst/>
            <a:rect r="r" b="b" t="t" l="l"/>
            <a:pathLst>
              <a:path h="5451075" w="5403378">
                <a:moveTo>
                  <a:pt x="0" y="0"/>
                </a:moveTo>
                <a:lnTo>
                  <a:pt x="5403379" y="0"/>
                </a:lnTo>
                <a:lnTo>
                  <a:pt x="5403379" y="5451075"/>
                </a:lnTo>
                <a:lnTo>
                  <a:pt x="0" y="5451075"/>
                </a:lnTo>
                <a:lnTo>
                  <a:pt x="0" y="0"/>
                </a:lnTo>
                <a:close/>
              </a:path>
            </a:pathLst>
          </a:custGeom>
          <a:blipFill>
            <a:blip r:embed="rId5"/>
            <a:stretch>
              <a:fillRect l="0" t="0" r="0" b="0"/>
            </a:stretch>
          </a:blipFill>
        </p:spPr>
      </p:sp>
      <p:sp>
        <p:nvSpPr>
          <p:cNvPr name="Freeform 11" id="11"/>
          <p:cNvSpPr/>
          <p:nvPr/>
        </p:nvSpPr>
        <p:spPr>
          <a:xfrm flipH="true" flipV="false" rot="0">
            <a:off x="0" y="5410771"/>
            <a:ext cx="3123070" cy="6021359"/>
          </a:xfrm>
          <a:custGeom>
            <a:avLst/>
            <a:gdLst/>
            <a:ahLst/>
            <a:cxnLst/>
            <a:rect r="r" b="b" t="t" l="l"/>
            <a:pathLst>
              <a:path h="6021359" w="3123070">
                <a:moveTo>
                  <a:pt x="3123070" y="0"/>
                </a:moveTo>
                <a:lnTo>
                  <a:pt x="0" y="0"/>
                </a:lnTo>
                <a:lnTo>
                  <a:pt x="0" y="6021359"/>
                </a:lnTo>
                <a:lnTo>
                  <a:pt x="3123070" y="6021359"/>
                </a:lnTo>
                <a:lnTo>
                  <a:pt x="3123070" y="0"/>
                </a:lnTo>
                <a:close/>
              </a:path>
            </a:pathLst>
          </a:custGeom>
          <a:blipFill>
            <a:blip r:embed="rId6"/>
            <a:stretch>
              <a:fillRect l="0" t="0" r="-304834" b="0"/>
            </a:stretch>
          </a:blipFill>
        </p:spPr>
      </p:sp>
      <p:sp>
        <p:nvSpPr>
          <p:cNvPr name="Freeform 12" id="12"/>
          <p:cNvSpPr/>
          <p:nvPr/>
        </p:nvSpPr>
        <p:spPr>
          <a:xfrm flipH="false" flipV="false" rot="7808263">
            <a:off x="2856761" y="6232575"/>
            <a:ext cx="4354660" cy="3238778"/>
          </a:xfrm>
          <a:custGeom>
            <a:avLst/>
            <a:gdLst/>
            <a:ahLst/>
            <a:cxnLst/>
            <a:rect r="r" b="b" t="t" l="l"/>
            <a:pathLst>
              <a:path h="3238778" w="4354660">
                <a:moveTo>
                  <a:pt x="0" y="0"/>
                </a:moveTo>
                <a:lnTo>
                  <a:pt x="4354660" y="0"/>
                </a:lnTo>
                <a:lnTo>
                  <a:pt x="4354660" y="3238779"/>
                </a:lnTo>
                <a:lnTo>
                  <a:pt x="0" y="3238779"/>
                </a:lnTo>
                <a:lnTo>
                  <a:pt x="0" y="0"/>
                </a:lnTo>
                <a:close/>
              </a:path>
            </a:pathLst>
          </a:custGeom>
          <a:blipFill>
            <a:blip r:embed="rId7"/>
            <a:stretch>
              <a:fillRect l="0" t="0" r="0" b="0"/>
            </a:stretch>
          </a:blipFill>
        </p:spPr>
      </p:sp>
      <p:sp>
        <p:nvSpPr>
          <p:cNvPr name="Freeform 13" id="13"/>
          <p:cNvSpPr/>
          <p:nvPr/>
        </p:nvSpPr>
        <p:spPr>
          <a:xfrm flipH="false" flipV="false" rot="0">
            <a:off x="14112633" y="6354689"/>
            <a:ext cx="2006324" cy="2039701"/>
          </a:xfrm>
          <a:custGeom>
            <a:avLst/>
            <a:gdLst/>
            <a:ahLst/>
            <a:cxnLst/>
            <a:rect r="r" b="b" t="t" l="l"/>
            <a:pathLst>
              <a:path h="2039701" w="2006324">
                <a:moveTo>
                  <a:pt x="0" y="0"/>
                </a:moveTo>
                <a:lnTo>
                  <a:pt x="2006324" y="0"/>
                </a:lnTo>
                <a:lnTo>
                  <a:pt x="2006324" y="2039701"/>
                </a:lnTo>
                <a:lnTo>
                  <a:pt x="0" y="20397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230099">
            <a:off x="8275730" y="3233380"/>
            <a:ext cx="8420542" cy="2842895"/>
          </a:xfrm>
          <a:prstGeom prst="rect">
            <a:avLst/>
          </a:prstGeom>
        </p:spPr>
        <p:txBody>
          <a:bodyPr anchor="t" rtlCol="false" tIns="0" lIns="0" bIns="0" rIns="0">
            <a:spAutoFit/>
          </a:bodyPr>
          <a:lstStyle/>
          <a:p>
            <a:pPr algn="ctr">
              <a:lnSpc>
                <a:spcPts val="11154"/>
              </a:lnSpc>
            </a:pPr>
            <a:r>
              <a:rPr lang="en-US" sz="9699">
                <a:solidFill>
                  <a:srgbClr val="FFFFFF"/>
                </a:solidFill>
                <a:latin typeface="Sunborn"/>
                <a:ea typeface="Sunborn"/>
                <a:cs typeface="Sunborn"/>
                <a:sym typeface="Sunborn"/>
              </a:rPr>
              <a:t>ALLEGRO CHIRURGO</a:t>
            </a:r>
          </a:p>
        </p:txBody>
      </p:sp>
      <p:sp>
        <p:nvSpPr>
          <p:cNvPr name="TextBox 15" id="15"/>
          <p:cNvSpPr txBox="true"/>
          <p:nvPr/>
        </p:nvSpPr>
        <p:spPr>
          <a:xfrm rot="230099">
            <a:off x="9911918" y="7019706"/>
            <a:ext cx="4842003" cy="1387474"/>
          </a:xfrm>
          <a:prstGeom prst="rect">
            <a:avLst/>
          </a:prstGeom>
        </p:spPr>
        <p:txBody>
          <a:bodyPr anchor="t" rtlCol="false" tIns="0" lIns="0" bIns="0" rIns="0">
            <a:spAutoFit/>
          </a:bodyPr>
          <a:lstStyle/>
          <a:p>
            <a:pPr algn="ctr" marL="0" indent="0" lvl="0">
              <a:lnSpc>
                <a:spcPts val="11200"/>
              </a:lnSpc>
              <a:spcBef>
                <a:spcPct val="0"/>
              </a:spcBef>
            </a:pPr>
            <a:r>
              <a:rPr lang="en-US" sz="8000">
                <a:solidFill>
                  <a:srgbClr val="FFFFFF"/>
                </a:solidFill>
                <a:latin typeface="KG Primary Penmanship"/>
                <a:ea typeface="KG Primary Penmanship"/>
                <a:cs typeface="KG Primary Penmanship"/>
                <a:sym typeface="KG Primary Penmanship"/>
              </a:rPr>
              <a:t>The 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DAGejduYJoo</dc:identifier>
  <dcterms:modified xsi:type="dcterms:W3CDTF">2011-08-01T06:04:30Z</dcterms:modified>
  <cp:revision>1</cp:revision>
  <dc:title>DEEP LEARNING - ALLEGRO CHIRUGO</dc:title>
</cp:coreProperties>
</file>